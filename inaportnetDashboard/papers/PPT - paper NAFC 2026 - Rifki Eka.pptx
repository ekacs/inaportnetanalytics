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59" r:id="rId5"/>
    <p:sldId id="260" r:id="rId6"/>
    <p:sldId id="261" r:id="rId7"/>
    <p:sldId id="258" r:id="rId8"/>
    <p:sldId id="267" r:id="rId9"/>
    <p:sldId id="268" r:id="rId10"/>
    <p:sldId id="269" r:id="rId11"/>
    <p:sldId id="265" r:id="rId12"/>
  </p:sldIdLst>
  <p:sldSz cx="18288000" cy="10287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Bold" charset="0"/>
      <p:regular r:id="rId18"/>
    </p:embeddedFont>
    <p:embeddedFont>
      <p:font typeface="Poppi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60" y="9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C3A7C-CF70-43A6-BDD8-ED9ACAC70AD9}" type="datetimeFigureOut">
              <a:rPr lang="en-ID" smtClean="0"/>
              <a:t>01/09/2026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787B0-133A-44DC-8229-006C69B53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497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787B0-133A-44DC-8229-006C69B5377D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4081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E08E-BAD1-E5CA-DCE8-DA9C7AEF5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E0435-C038-9F3A-34EA-F6E90BDD7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F6635-EBFA-1AED-0273-8FBEB07F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D2A7B-B473-D146-6192-BF36EB44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7E928-34AB-95DA-BF92-B0094533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0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EB16-C102-B082-065A-541C064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D815-837B-1008-1E11-4C5C396F6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D2AB1-EF5F-A024-666A-C85D7D77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DA08-7867-4211-541A-A9EDDE85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F5AD-59A2-A72C-1C1C-2763FA23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2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0277-2074-FB76-C8F1-04FC40D0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176A6-0128-15E4-A82C-FE4ECB6ED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D0BED-01E2-38E0-C5CB-444B567D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BB045-5534-366E-4721-95CC802A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6922C-4F07-8BEA-31AC-78F39233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5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DAC8-743A-55D5-C0AF-ECB98622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914D9-62C6-0E55-7173-20841BE4F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8BDF2-8368-F1AD-CBAA-290AA66AC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AE39D-EBDF-7853-FBED-C1A80D37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82526-0786-5EF9-D3D9-FB84F74A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0C238-76E7-CF33-8EDF-D81582AC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87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7185-8305-A6F1-1911-5CF91536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97A2E-8667-5F92-98FF-D81DEBA6D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60604-C776-985A-5D89-3AAD43147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5A86B-855E-6651-1159-3C1227359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012A8-B6BA-256D-F6F2-9DB7624F6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92283-762B-1F3C-FE28-C21AAF0C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57C82-2C5D-7A8B-52D6-5C0B74FFE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82086-0269-25D8-749B-656A8033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5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1500-B26C-29BA-1748-638E271C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75163-5453-8989-835E-EC77413C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693B8-1447-8558-789D-9AB97CA0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7CEFC-F0E3-78B3-898D-054C97D7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2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F035D-E2BD-1E61-F464-7BA76D26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795C8-5C72-5DE0-35DD-EABAE1ED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FA6F1-7728-CA94-5B36-0D093A88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0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62E1-F5EF-281B-7F59-A4839914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7B486-29B8-E746-1238-78CA88445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DCBB9-2C74-48D3-87BC-FF611305D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B1639-E8D6-0904-3EB4-71AB6C942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90369-3C4A-90B4-528D-E708DAE9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5F6AB-B228-E95A-5906-E00BD53C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6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3A82-6D7A-3BBF-B5D1-BAD9D700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2EA0A-C85E-3D5C-CCEE-3709D22F7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7CDCA-D112-50D3-E1F1-BD03DE8F8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41383-5295-8FC2-59BB-C790F779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8ED27-7CF4-372E-C4C4-0E92F63E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480FA-5CC2-10E0-9423-65D14B64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EAC8-17BC-2AED-02FD-A1470F1F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2067A-4F35-2CD1-B77F-480C9502A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63E86-AA4E-82AD-2B65-3C4D5370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625C-752A-3F8C-7DFC-74AF24BE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C848-4764-0326-CB15-DDB03A1B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9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6C785-3EE6-0419-E538-5FD6CCC1A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4163A-3EF3-6151-7CF0-BF6474DF3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C9BDA-4205-EF1A-4827-58BE8EF84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A7CB4-258E-1004-8090-3CC62C9A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AB816-BEA2-B09E-3370-4F86D9C9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8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ECF6B-E19B-F04D-DB52-0B6C5604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16F7D-8EC9-6966-0697-6C895008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7AEA-4403-2248-FFD4-CCEC7772A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112F9-3AFC-0970-CE2F-427898113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A673-3F5B-E5C7-595A-59F55C834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7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442116" y="8468804"/>
            <a:ext cx="1845884" cy="1818196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2484182" y="7648148"/>
            <a:ext cx="1668552" cy="1610152"/>
          </a:xfrm>
          <a:custGeom>
            <a:avLst/>
            <a:gdLst/>
            <a:ahLst/>
            <a:cxnLst/>
            <a:rect l="l" t="t" r="r" b="b"/>
            <a:pathLst>
              <a:path w="1668552" h="1610152">
                <a:moveTo>
                  <a:pt x="0" y="0"/>
                </a:moveTo>
                <a:lnTo>
                  <a:pt x="1668552" y="0"/>
                </a:lnTo>
                <a:lnTo>
                  <a:pt x="1668552" y="1610152"/>
                </a:lnTo>
                <a:lnTo>
                  <a:pt x="0" y="1610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41" y="3797679"/>
            <a:ext cx="6903533" cy="6489321"/>
          </a:xfrm>
          <a:custGeom>
            <a:avLst/>
            <a:gdLst/>
            <a:ahLst/>
            <a:cxnLst/>
            <a:rect l="l" t="t" r="r" b="b"/>
            <a:pathLst>
              <a:path w="6903533" h="6489321">
                <a:moveTo>
                  <a:pt x="0" y="0"/>
                </a:moveTo>
                <a:lnTo>
                  <a:pt x="6903534" y="0"/>
                </a:lnTo>
                <a:lnTo>
                  <a:pt x="6903534" y="6489321"/>
                </a:lnTo>
                <a:lnTo>
                  <a:pt x="0" y="6489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9707" y="3011710"/>
            <a:ext cx="13295726" cy="403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586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Toward Data-Driven Anti-Fraud Governance: Anomaly Detection and Composite Risk Scoring for Port-Level Oversight in Digital Maritime Services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82200" y="7420903"/>
            <a:ext cx="5471418" cy="124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artificial intelligence, its significance, and how </a:t>
            </a:r>
            <a:r>
              <a:rPr lang="en-US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Thynk</a:t>
            </a:r>
            <a:r>
              <a:rPr lang="en-US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Unlimited uses AI for innovation.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B93212-0704-45AB-F0A2-2303E0CBA48E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0E19E81C-0579-9AF2-FDEE-A66C38780919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C538E4A3-B0CD-FE48-A15B-C282492BBF1D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30C021B3-3592-1C66-389A-1BD6574A2219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46351" y="0"/>
            <a:ext cx="6941649" cy="10287000"/>
            <a:chOff x="0" y="0"/>
            <a:chExt cx="9255532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7562" r="27562"/>
            <a:stretch>
              <a:fillRect/>
            </a:stretch>
          </p:blipFill>
          <p:spPr>
            <a:xfrm>
              <a:off x="0" y="0"/>
              <a:ext cx="9255532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-10800000">
            <a:off x="18121941" y="0"/>
            <a:ext cx="680830" cy="10287000"/>
            <a:chOff x="0" y="0"/>
            <a:chExt cx="257899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899" cy="2709333"/>
            </a:xfrm>
            <a:custGeom>
              <a:avLst/>
              <a:gdLst/>
              <a:ahLst/>
              <a:cxnLst/>
              <a:rect l="l" t="t" r="r" b="b"/>
              <a:pathLst>
                <a:path w="257899" h="2709333">
                  <a:moveTo>
                    <a:pt x="0" y="0"/>
                  </a:moveTo>
                  <a:lnTo>
                    <a:pt x="257899" y="0"/>
                  </a:lnTo>
                  <a:lnTo>
                    <a:pt x="25789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5789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346351" y="3744253"/>
            <a:ext cx="6775590" cy="6542747"/>
          </a:xfrm>
          <a:custGeom>
            <a:avLst/>
            <a:gdLst/>
            <a:ahLst/>
            <a:cxnLst/>
            <a:rect l="l" t="t" r="r" b="b"/>
            <a:pathLst>
              <a:path w="6477211" h="6477211">
                <a:moveTo>
                  <a:pt x="0" y="0"/>
                </a:moveTo>
                <a:lnTo>
                  <a:pt x="6477210" y="0"/>
                </a:lnTo>
                <a:lnTo>
                  <a:pt x="6477210" y="6477211"/>
                </a:lnTo>
                <a:lnTo>
                  <a:pt x="0" y="6477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9258300"/>
            <a:ext cx="11346351" cy="1028700"/>
            <a:chOff x="0" y="0"/>
            <a:chExt cx="3071717" cy="3466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1717" cy="346694"/>
            </a:xfrm>
            <a:custGeom>
              <a:avLst/>
              <a:gdLst/>
              <a:ahLst/>
              <a:cxnLst/>
              <a:rect l="l" t="t" r="r" b="b"/>
              <a:pathLst>
                <a:path w="3071717" h="346694">
                  <a:moveTo>
                    <a:pt x="0" y="0"/>
                  </a:moveTo>
                  <a:lnTo>
                    <a:pt x="3071717" y="0"/>
                  </a:lnTo>
                  <a:lnTo>
                    <a:pt x="3071717" y="346694"/>
                  </a:lnTo>
                  <a:lnTo>
                    <a:pt x="0" y="346694"/>
                  </a:lnTo>
                  <a:close/>
                </a:path>
              </a:pathLst>
            </a:custGeom>
            <a:solidFill>
              <a:srgbClr val="2F55A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071717" cy="34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26382" y="294923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8800" y="1919013"/>
            <a:ext cx="4791112" cy="539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193" lvl="1" indent="-318596" algn="l">
              <a:lnSpc>
                <a:spcPct val="200000"/>
              </a:lnSpc>
              <a:buAutoNum type="arabicPeriod"/>
            </a:pPr>
            <a:r>
              <a:rPr lang="en-US" sz="3600" b="1" dirty="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  <a:p>
            <a:pPr marL="637193" lvl="1" indent="-318596" algn="l">
              <a:lnSpc>
                <a:spcPct val="200000"/>
              </a:lnSpc>
              <a:buAutoNum type="arabicPeriod"/>
            </a:pPr>
            <a:r>
              <a:rPr lang="en-US" sz="3600" b="1" dirty="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Methodology</a:t>
            </a:r>
          </a:p>
          <a:p>
            <a:pPr marL="637193" lvl="1" indent="-318596" algn="l">
              <a:lnSpc>
                <a:spcPct val="200000"/>
              </a:lnSpc>
              <a:buAutoNum type="arabicPeriod"/>
            </a:pPr>
            <a:r>
              <a:rPr lang="en-US" sz="3600" b="1" dirty="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Result</a:t>
            </a:r>
          </a:p>
          <a:p>
            <a:pPr marL="637193" lvl="1" indent="-318596" algn="l">
              <a:lnSpc>
                <a:spcPct val="200000"/>
              </a:lnSpc>
              <a:buAutoNum type="arabicPeriod"/>
            </a:pPr>
            <a:r>
              <a:rPr lang="en-US" sz="3600" b="1" dirty="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Discussion</a:t>
            </a:r>
          </a:p>
          <a:p>
            <a:pPr marL="637193" lvl="1" indent="-318596" algn="l">
              <a:lnSpc>
                <a:spcPct val="200000"/>
              </a:lnSpc>
              <a:buAutoNum type="arabicPeriod"/>
            </a:pPr>
            <a:r>
              <a:rPr lang="en-US" sz="3600" b="1" dirty="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7CB7F2-6555-1619-C2B2-00FC340B2CCB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AFFC6CEF-92CD-B065-565F-C1051A932DD0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8873F606-3AB0-584D-298B-24B8EFBDC3E3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6C04597D-440E-D26C-FC63-556B3DD8AFCC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grpSp>
        <p:nvGrpSpPr>
          <p:cNvPr id="17" name="Group 5">
            <a:extLst>
              <a:ext uri="{FF2B5EF4-FFF2-40B4-BE49-F238E27FC236}">
                <a16:creationId xmlns:a16="http://schemas.microsoft.com/office/drawing/2014/main" id="{F1243C11-0EA7-B11F-BD6E-71A8BB94CEFE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0156331-E6E5-E08D-5DB2-80E21B619F34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1EBA1CDF-21A0-AE7F-8F1A-DE51569282C9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C5FF4C-330C-0803-B5A4-48276391CF11}"/>
              </a:ext>
            </a:extLst>
          </p:cNvPr>
          <p:cNvGrpSpPr/>
          <p:nvPr/>
        </p:nvGrpSpPr>
        <p:grpSpPr>
          <a:xfrm>
            <a:off x="17208217" y="9258300"/>
            <a:ext cx="1066800" cy="870047"/>
            <a:chOff x="16687800" y="9166564"/>
            <a:chExt cx="1066800" cy="87004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576D8BAE-12F0-FC42-827F-4825A1F60665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52B2D2-3569-700E-7B83-584FA39CE116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10800000">
            <a:off x="18049761" y="0"/>
            <a:ext cx="276056" cy="10287000"/>
            <a:chOff x="0" y="0"/>
            <a:chExt cx="7270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F135BE-D820-3D06-2A45-E9894991D5D8}"/>
              </a:ext>
            </a:extLst>
          </p:cNvPr>
          <p:cNvGrpSpPr/>
          <p:nvPr/>
        </p:nvGrpSpPr>
        <p:grpSpPr>
          <a:xfrm>
            <a:off x="16687800" y="9166564"/>
            <a:ext cx="1066800" cy="870047"/>
            <a:chOff x="16687800" y="9166564"/>
            <a:chExt cx="1066800" cy="870047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72DCEB7A-7FB2-12CC-D0DD-424C3837B44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1DB1C9-B5C4-4274-1B62-9B9E2E7A2358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778A996-A583-0CD2-5C84-E5ECA29BB5AC}"/>
              </a:ext>
            </a:extLst>
          </p:cNvPr>
          <p:cNvSpPr txBox="1"/>
          <p:nvPr/>
        </p:nvSpPr>
        <p:spPr>
          <a:xfrm>
            <a:off x="1524000" y="1757633"/>
            <a:ext cx="1440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Inaportnet</a:t>
            </a:r>
            <a:r>
              <a:rPr lang="en-ID" sz="3200" b="1" dirty="0">
                <a:latin typeface="Arial" panose="020B0604020202020204" pitchFamily="34" charset="0"/>
                <a:cs typeface="Arial" panose="020B0604020202020204" pitchFamily="34" charset="0"/>
              </a:rPr>
              <a:t> has created digital transformation of vessel service process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73BF3D5D-82F5-6BDF-BD76-32A76C54D83B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2EAC6-D485-397D-C34C-DCDC3CF825A0}"/>
              </a:ext>
            </a:extLst>
          </p:cNvPr>
          <p:cNvSpPr txBox="1"/>
          <p:nvPr/>
        </p:nvSpPr>
        <p:spPr>
          <a:xfrm>
            <a:off x="304800" y="4493478"/>
            <a:ext cx="5431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Reduce face-to-face interaction (mitigating opportunities for fraud)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09C44-D2EC-8C64-37A8-5C26B191EFCD}"/>
              </a:ext>
            </a:extLst>
          </p:cNvPr>
          <p:cNvSpPr txBox="1"/>
          <p:nvPr/>
        </p:nvSpPr>
        <p:spPr>
          <a:xfrm>
            <a:off x="10773315" y="3543300"/>
            <a:ext cx="59401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system is projected to reduce administrative duration from 24hours to approximately 10minutes (Directorate general of sea transportation, 2018)</a:t>
            </a:r>
            <a:endParaRPr lang="en-ID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646D224-91DE-9582-3543-C772C5423A60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 rot="16200000" flipH="1">
            <a:off x="10633690" y="433618"/>
            <a:ext cx="1200892" cy="5018472"/>
          </a:xfrm>
          <a:prstGeom prst="bentConnector3">
            <a:avLst>
              <a:gd name="adj1" fmla="val 50000"/>
            </a:avLst>
          </a:prstGeom>
          <a:ln w="1238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2BDBCDE-B2BB-0025-1E21-D5B44AFBBA4F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rot="5400000">
            <a:off x="4797190" y="565768"/>
            <a:ext cx="2151070" cy="5704350"/>
          </a:xfrm>
          <a:prstGeom prst="bentConnector3">
            <a:avLst>
              <a:gd name="adj1" fmla="val 50000"/>
            </a:avLst>
          </a:prstGeom>
          <a:ln w="1238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16EB234-F4B7-EB7E-F1E4-C245BB6F914E}"/>
              </a:ext>
            </a:extLst>
          </p:cNvPr>
          <p:cNvSpPr txBox="1"/>
          <p:nvPr/>
        </p:nvSpPr>
        <p:spPr>
          <a:xfrm>
            <a:off x="319910" y="6908574"/>
            <a:ext cx="6123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However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this measure does not automatically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eliminate fraud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risks. </a:t>
            </a:r>
            <a:endParaRPr lang="en-ID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998EF7-91AE-C314-71F0-ED60CC7A3CF6}"/>
              </a:ext>
            </a:extLst>
          </p:cNvPr>
          <p:cNvSpPr txBox="1"/>
          <p:nvPr/>
        </p:nvSpPr>
        <p:spPr>
          <a:xfrm>
            <a:off x="7544716" y="6785819"/>
            <a:ext cx="72758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It may transform to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another fraudulent behaviour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such as data manipulation, collusion among authorized actors, etc</a:t>
            </a:r>
            <a:endParaRPr lang="en-ID" sz="1600" dirty="0"/>
          </a:p>
        </p:txBody>
      </p:sp>
      <p:grpSp>
        <p:nvGrpSpPr>
          <p:cNvPr id="41" name="Group 5">
            <a:extLst>
              <a:ext uri="{FF2B5EF4-FFF2-40B4-BE49-F238E27FC236}">
                <a16:creationId xmlns:a16="http://schemas.microsoft.com/office/drawing/2014/main" id="{F7F9A01D-578F-187D-8484-09E2187CCBEB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D8F64004-BB35-9051-9FA5-E1E69B21736A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3" name="TextBox 7">
              <a:extLst>
                <a:ext uri="{FF2B5EF4-FFF2-40B4-BE49-F238E27FC236}">
                  <a16:creationId xmlns:a16="http://schemas.microsoft.com/office/drawing/2014/main" id="{16D10CED-D1A9-5489-5A13-DC1258AB42B6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5E1C59-DAEE-D3F7-1BB0-23AE61AAA2DA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7DB78E05-85EC-03EB-7FEA-42BA35DFCCBD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708F5DDA-52A8-FFDD-211D-E4945F716E67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TextBox 11">
              <a:extLst>
                <a:ext uri="{FF2B5EF4-FFF2-40B4-BE49-F238E27FC236}">
                  <a16:creationId xmlns:a16="http://schemas.microsoft.com/office/drawing/2014/main" id="{CFF607CE-6EA2-3A1E-0AF3-E2547D5EFE81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471F50C1-3F1F-8231-3B03-84FC8D72B262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2643044" y="6255979"/>
            <a:ext cx="948589" cy="193576"/>
          </a:xfrm>
          <a:prstGeom prst="bentConnector3">
            <a:avLst>
              <a:gd name="adj1" fmla="val 50000"/>
            </a:avLst>
          </a:prstGeom>
          <a:ln w="1238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243179B1-37D3-D71A-B9D8-9315AC6156B0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6443360" y="7385628"/>
            <a:ext cx="1101356" cy="92689"/>
          </a:xfrm>
          <a:prstGeom prst="bentConnector3">
            <a:avLst>
              <a:gd name="adj1" fmla="val 50000"/>
            </a:avLst>
          </a:prstGeom>
          <a:ln w="1238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5B6A664-9E9C-4AE2-3D05-3C947CD2D1D7}"/>
              </a:ext>
            </a:extLst>
          </p:cNvPr>
          <p:cNvSpPr txBox="1"/>
          <p:nvPr/>
        </p:nvSpPr>
        <p:spPr>
          <a:xfrm>
            <a:off x="7110430" y="2814938"/>
            <a:ext cx="1779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endParaRPr lang="en-ID" sz="28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0E46F6-CF28-D197-9024-842A6916C3D8}"/>
              </a:ext>
            </a:extLst>
          </p:cNvPr>
          <p:cNvSpPr txBox="1"/>
          <p:nvPr/>
        </p:nvSpPr>
        <p:spPr>
          <a:xfrm>
            <a:off x="3480602" y="8833534"/>
            <a:ext cx="10387797" cy="954107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With the massive volume of transactions, manual oversight becomes </a:t>
            </a:r>
            <a:r>
              <a:rPr lang="en-ID" sz="2800" b="1" dirty="0">
                <a:latin typeface="Arial" panose="020B0604020202020204" pitchFamily="34" charset="0"/>
                <a:cs typeface="Arial" panose="020B0604020202020204" pitchFamily="34" charset="0"/>
              </a:rPr>
              <a:t>unfeasible</a:t>
            </a:r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23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149306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3067" cy="2709333"/>
            </a:xfrm>
            <a:custGeom>
              <a:avLst/>
              <a:gdLst/>
              <a:ahLst/>
              <a:cxnLst/>
              <a:rect l="l" t="t" r="r" b="b"/>
              <a:pathLst>
                <a:path w="1493067" h="2709333">
                  <a:moveTo>
                    <a:pt x="0" y="0"/>
                  </a:moveTo>
                  <a:lnTo>
                    <a:pt x="1493067" y="0"/>
                  </a:lnTo>
                  <a:lnTo>
                    <a:pt x="149306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493067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9044072" y="-31066"/>
            <a:ext cx="276056" cy="10287000"/>
            <a:chOff x="0" y="0"/>
            <a:chExt cx="7270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17" name="TextBox 11">
            <a:extLst>
              <a:ext uri="{FF2B5EF4-FFF2-40B4-BE49-F238E27FC236}">
                <a16:creationId xmlns:a16="http://schemas.microsoft.com/office/drawing/2014/main" id="{7B1C2467-B9A5-6F67-6777-2222C5E909E2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1BA6F582-C577-0160-0582-563FD9025F0F}"/>
              </a:ext>
            </a:extLst>
          </p:cNvPr>
          <p:cNvGrpSpPr/>
          <p:nvPr/>
        </p:nvGrpSpPr>
        <p:grpSpPr>
          <a:xfrm rot="16200000">
            <a:off x="4701541" y="-3091464"/>
            <a:ext cx="45719" cy="9144001"/>
            <a:chOff x="0" y="0"/>
            <a:chExt cx="72706" cy="270933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1FCEDF7-F134-E86A-B91A-3717C97EBC4D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AC2C5835-E1C3-81C3-AE25-187CC990932B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DB3163-54D9-D01D-EE94-E2A1E3EDC14E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589AD25A-B9A2-7B20-76BD-CDAB10AE19B2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C73CE9-23BD-9021-98EA-52451C556AD6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11">
              <a:extLst>
                <a:ext uri="{FF2B5EF4-FFF2-40B4-BE49-F238E27FC236}">
                  <a16:creationId xmlns:a16="http://schemas.microsoft.com/office/drawing/2014/main" id="{1DD23820-4A67-B328-46C5-096E1F255352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sp>
        <p:nvSpPr>
          <p:cNvPr id="26" name="TextBox 12">
            <a:extLst>
              <a:ext uri="{FF2B5EF4-FFF2-40B4-BE49-F238E27FC236}">
                <a16:creationId xmlns:a16="http://schemas.microsoft.com/office/drawing/2014/main" id="{F5ED20A6-A52D-61DB-19FA-43B0A87749F9}"/>
              </a:ext>
            </a:extLst>
          </p:cNvPr>
          <p:cNvSpPr txBox="1"/>
          <p:nvPr/>
        </p:nvSpPr>
        <p:spPr>
          <a:xfrm>
            <a:off x="5582083" y="8930475"/>
            <a:ext cx="7829117" cy="11079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318597" lvl="1" algn="ctr"/>
            <a:r>
              <a:rPr lang="en-ID" sz="2400" dirty="0"/>
              <a:t>The key issue is not whether digitalization eliminates fraud, but whether we are able to detect abnormal behaviour hidden within millions of digital transactions.</a:t>
            </a:r>
            <a:endParaRPr lang="en-US" sz="2400" b="1" dirty="0">
              <a:solidFill>
                <a:srgbClr val="0B4B49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6D8C0673-4597-1AA3-88BD-B03061076094}"/>
              </a:ext>
            </a:extLst>
          </p:cNvPr>
          <p:cNvSpPr txBox="1"/>
          <p:nvPr/>
        </p:nvSpPr>
        <p:spPr>
          <a:xfrm>
            <a:off x="9369062" y="1503397"/>
            <a:ext cx="8929489" cy="9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597" lvl="1" algn="ctr">
              <a:lnSpc>
                <a:spcPct val="200000"/>
              </a:lnSpc>
            </a:pPr>
            <a:r>
              <a:rPr lang="en-US" sz="3600" b="1" dirty="0">
                <a:solidFill>
                  <a:schemeClr val="bg1"/>
                </a:solidFill>
                <a:latin typeface="DM Sans Bold"/>
                <a:ea typeface="DM Sans Bold"/>
                <a:cs typeface="DM Sans Bold"/>
                <a:sym typeface="DM Sans Bold"/>
              </a:rPr>
              <a:t>Research Objectives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02DAC2BC-F34E-D10F-E5BE-F0BED4CDC7EC}"/>
              </a:ext>
            </a:extLst>
          </p:cNvPr>
          <p:cNvSpPr txBox="1"/>
          <p:nvPr/>
        </p:nvSpPr>
        <p:spPr>
          <a:xfrm>
            <a:off x="23730" y="1515793"/>
            <a:ext cx="9044070" cy="9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597" lvl="1" algn="ctr">
              <a:lnSpc>
                <a:spcPct val="200000"/>
              </a:lnSpc>
            </a:pPr>
            <a:r>
              <a:rPr lang="en-US" sz="3600" b="1" dirty="0">
                <a:latin typeface="DM Sans Bold"/>
                <a:ea typeface="DM Sans Bold"/>
                <a:cs typeface="DM Sans Bold"/>
                <a:sym typeface="DM Sans Bold"/>
              </a:rPr>
              <a:t>Research Gap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909862-B683-4C78-406C-B5FC2BBF61DA}"/>
              </a:ext>
            </a:extLst>
          </p:cNvPr>
          <p:cNvSpPr txBox="1"/>
          <p:nvPr/>
        </p:nvSpPr>
        <p:spPr>
          <a:xfrm>
            <a:off x="304800" y="2806635"/>
            <a:ext cx="8690337" cy="554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D" sz="2000" b="1" dirty="0">
                <a:latin typeface="Aptos" panose="020B0004020202020204" pitchFamily="34" charset="0"/>
              </a:rPr>
              <a:t>Existing fraud analytics research has predominantly focused on financial transactions</a:t>
            </a:r>
            <a:r>
              <a:rPr lang="en-ID" sz="2000" dirty="0">
                <a:latin typeface="Aptos" panose="020B0004020202020204" pitchFamily="34" charset="0"/>
              </a:rPr>
              <a:t>, with relatively limited attention to fraud risks embedded in administrative processes.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D" sz="2000" b="1" dirty="0">
                <a:latin typeface="Aptos" panose="020B0004020202020204" pitchFamily="34" charset="0"/>
              </a:rPr>
              <a:t>Fraud risk within digital maritime administrative processes remains relatively underexplored</a:t>
            </a:r>
            <a:r>
              <a:rPr lang="en-ID" sz="2000" dirty="0">
                <a:latin typeface="Aptos" panose="020B0004020202020204" pitchFamily="34" charset="0"/>
              </a:rPr>
              <a:t>, particularly in large-scale port clearance and vessel approval systems.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D" sz="2000" b="1" dirty="0">
                <a:latin typeface="Aptos" panose="020B0004020202020204" pitchFamily="34" charset="0"/>
              </a:rPr>
              <a:t>Current supervisory practices tend to emphasize administrative compliance and service performance</a:t>
            </a:r>
            <a:r>
              <a:rPr lang="en-ID" sz="2000" dirty="0">
                <a:latin typeface="Aptos" panose="020B0004020202020204" pitchFamily="34" charset="0"/>
              </a:rPr>
              <a:t>, rather than systematic, data-driven detection and prioritization of potential fraud risks.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06B5C2-2A59-EA87-9CAD-6EC5BFA56A2D}"/>
              </a:ext>
            </a:extLst>
          </p:cNvPr>
          <p:cNvSpPr txBox="1"/>
          <p:nvPr/>
        </p:nvSpPr>
        <p:spPr>
          <a:xfrm>
            <a:off x="10643531" y="3169586"/>
            <a:ext cx="685524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solidFill>
                  <a:schemeClr val="bg1"/>
                </a:solidFill>
                <a:latin typeface="Aptos" panose="020B0004020202020204" pitchFamily="34" charset="0"/>
              </a:rPr>
              <a:t>To develop a data-driven </a:t>
            </a:r>
            <a:r>
              <a:rPr lang="en-ID" sz="2800" b="1" dirty="0">
                <a:solidFill>
                  <a:schemeClr val="bg1"/>
                </a:solidFill>
                <a:latin typeface="Aptos" panose="020B0004020202020204" pitchFamily="34" charset="0"/>
              </a:rPr>
              <a:t>Composite Fraud Risk Screening Index (CFRSI) </a:t>
            </a:r>
            <a:r>
              <a:rPr lang="en-ID" sz="2800" dirty="0">
                <a:solidFill>
                  <a:schemeClr val="bg1"/>
                </a:solidFill>
                <a:latin typeface="Aptos" panose="020B0004020202020204" pitchFamily="34" charset="0"/>
              </a:rPr>
              <a:t>to identify and prioritize potentially anomalous port-level transactions.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A091E1-049C-6870-F632-E5B7C6CB0295}"/>
              </a:ext>
            </a:extLst>
          </p:cNvPr>
          <p:cNvGrpSpPr/>
          <p:nvPr/>
        </p:nvGrpSpPr>
        <p:grpSpPr>
          <a:xfrm>
            <a:off x="17208217" y="9258300"/>
            <a:ext cx="1066800" cy="870047"/>
            <a:chOff x="16687800" y="9166564"/>
            <a:chExt cx="1066800" cy="870047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AD0A57A8-C1DA-0084-E99B-D9660AC901C1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7255B0D-7F8E-7433-D6FE-DC2D8558FD9E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5">
            <a:extLst>
              <a:ext uri="{FF2B5EF4-FFF2-40B4-BE49-F238E27FC236}">
                <a16:creationId xmlns:a16="http://schemas.microsoft.com/office/drawing/2014/main" id="{FED1D494-9702-3146-15BB-04681CCBD302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2C17639-006D-B3D8-3A0F-DD6E9BF36CD6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</p:spPr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A694DE45-8EBA-5380-0482-804F7ED996B0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13" name="TextBox 11">
            <a:extLst>
              <a:ext uri="{FF2B5EF4-FFF2-40B4-BE49-F238E27FC236}">
                <a16:creationId xmlns:a16="http://schemas.microsoft.com/office/drawing/2014/main" id="{FA2E8DE2-1F54-893C-5113-8A000089A0B0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A2D023-60FC-29E9-983B-DB849C440954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71B923C-ECDB-2462-E085-BEDAF8E82195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52C9EE5-3D6E-1758-AB81-F8EC47BDC1FB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9577DA50-D24F-8623-A68B-60D51E1E5CF5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5E2750D-4CD2-8470-F033-295D775DE9F0}"/>
              </a:ext>
            </a:extLst>
          </p:cNvPr>
          <p:cNvGrpSpPr/>
          <p:nvPr/>
        </p:nvGrpSpPr>
        <p:grpSpPr>
          <a:xfrm>
            <a:off x="381000" y="1694749"/>
            <a:ext cx="10058400" cy="8325551"/>
            <a:chOff x="980768" y="165783"/>
            <a:chExt cx="8171648" cy="6867747"/>
          </a:xfrm>
          <a:solidFill>
            <a:schemeClr val="bg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B41E6E6-CED0-4CDE-CAD2-450F3D5705B6}"/>
                </a:ext>
              </a:extLst>
            </p:cNvPr>
            <p:cNvSpPr/>
            <p:nvPr/>
          </p:nvSpPr>
          <p:spPr>
            <a:xfrm>
              <a:off x="3943533" y="165783"/>
              <a:ext cx="2912698" cy="525274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Collection</a:t>
              </a:r>
            </a:p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scrapping https://monitoring-inaportnet.dephub.go.id/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D8C374F-B42C-C44A-EB84-C2D0193A8B02}"/>
                </a:ext>
              </a:extLst>
            </p:cNvPr>
            <p:cNvSpPr/>
            <p:nvPr/>
          </p:nvSpPr>
          <p:spPr>
            <a:xfrm>
              <a:off x="3943534" y="886170"/>
              <a:ext cx="2912699" cy="447438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Preparation</a:t>
              </a:r>
            </a:p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Exploratory, missing values identification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323964-A3D4-6C2B-126E-0166DED63E1C}"/>
                </a:ext>
              </a:extLst>
            </p:cNvPr>
            <p:cNvSpPr/>
            <p:nvPr/>
          </p:nvSpPr>
          <p:spPr>
            <a:xfrm>
              <a:off x="4535497" y="2268634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Anomaly Detection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C94322FB-CDEA-7432-B139-D8D252691FCF}"/>
                </a:ext>
              </a:extLst>
            </p:cNvPr>
            <p:cNvCxnSpPr>
              <a:cxnSpLocks/>
              <a:stCxn id="60" idx="2"/>
              <a:endCxn id="61" idx="0"/>
            </p:cNvCxnSpPr>
            <p:nvPr/>
          </p:nvCxnSpPr>
          <p:spPr>
            <a:xfrm>
              <a:off x="5399883" y="691057"/>
              <a:ext cx="1" cy="195113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F47B41E-CE48-D605-A342-1D2D799861A6}"/>
                </a:ext>
              </a:extLst>
            </p:cNvPr>
            <p:cNvSpPr/>
            <p:nvPr/>
          </p:nvSpPr>
          <p:spPr>
            <a:xfrm>
              <a:off x="4535497" y="1578054"/>
              <a:ext cx="1728764" cy="447439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Engineering:</a:t>
              </a:r>
            </a:p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 Time, Hour, Day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7DC9E9B-E92D-C13E-DDF9-AFD34C6E5A8F}"/>
                </a:ext>
              </a:extLst>
            </p:cNvPr>
            <p:cNvCxnSpPr>
              <a:cxnSpLocks/>
              <a:stCxn id="61" idx="2"/>
              <a:endCxn id="64" idx="0"/>
            </p:cNvCxnSpPr>
            <p:nvPr/>
          </p:nvCxnSpPr>
          <p:spPr>
            <a:xfrm flipH="1">
              <a:off x="5399878" y="1333608"/>
              <a:ext cx="5" cy="244446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141F4F4-B4EE-91E1-4CCD-1710BAB16251}"/>
                </a:ext>
              </a:extLst>
            </p:cNvPr>
            <p:cNvCxnSpPr>
              <a:cxnSpLocks/>
              <a:stCxn id="64" idx="2"/>
              <a:endCxn id="62" idx="0"/>
            </p:cNvCxnSpPr>
            <p:nvPr/>
          </p:nvCxnSpPr>
          <p:spPr>
            <a:xfrm>
              <a:off x="5399879" y="2025493"/>
              <a:ext cx="0" cy="243141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063176-E509-9712-C016-C969C7451E3D}"/>
                </a:ext>
              </a:extLst>
            </p:cNvPr>
            <p:cNvSpPr/>
            <p:nvPr/>
          </p:nvSpPr>
          <p:spPr>
            <a:xfrm>
              <a:off x="980768" y="3130936"/>
              <a:ext cx="2395338" cy="1384300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Rule Based :</a:t>
              </a:r>
            </a:p>
            <a:p>
              <a:pPr marL="228600" indent="-228600">
                <a:buAutoNum type="arabicPeriod"/>
              </a:pPr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Approval &lt; 10 s</a:t>
              </a:r>
            </a:p>
            <a:p>
              <a:pPr marL="228600" indent="-228600">
                <a:buAutoNum type="arabicPeriod"/>
              </a:pPr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Approval &gt; 8 hours</a:t>
              </a:r>
            </a:p>
            <a:p>
              <a:pPr marL="228600" indent="-228600">
                <a:buAutoNum type="arabicPeriod"/>
              </a:pPr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Approval within 00.00 - 04.00</a:t>
              </a:r>
            </a:p>
            <a:p>
              <a:pPr marL="228600" indent="-228600">
                <a:buAutoNum type="arabicPeriod"/>
              </a:pPr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GT manipulation</a:t>
              </a:r>
            </a:p>
            <a:p>
              <a:pPr marL="228600" indent="-228600">
                <a:buAutoNum type="arabicPeriod"/>
              </a:pPr>
              <a:r>
                <a:rPr lang="en-US" sz="1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Same vessel in 2 ports within 2 hours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F35B4EC-D02C-03A0-CEE7-C3AC285AFB05}"/>
                </a:ext>
              </a:extLst>
            </p:cNvPr>
            <p:cNvSpPr/>
            <p:nvPr/>
          </p:nvSpPr>
          <p:spPr>
            <a:xfrm>
              <a:off x="4535497" y="3127568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Statistical Model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7310C65-3AA6-D343-C1DB-E7072D711368}"/>
                </a:ext>
              </a:extLst>
            </p:cNvPr>
            <p:cNvSpPr/>
            <p:nvPr/>
          </p:nvSpPr>
          <p:spPr>
            <a:xfrm>
              <a:off x="7423652" y="3119681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Unsupervised Machine Learning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CFB7DBD-B38D-BE15-5BCF-3453DBE4F0EA}"/>
                </a:ext>
              </a:extLst>
            </p:cNvPr>
            <p:cNvSpPr/>
            <p:nvPr/>
          </p:nvSpPr>
          <p:spPr>
            <a:xfrm>
              <a:off x="4535497" y="3644026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 Model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E7DCECF-F7E3-E221-0995-32FBC322BDEB}"/>
                </a:ext>
              </a:extLst>
            </p:cNvPr>
            <p:cNvSpPr/>
            <p:nvPr/>
          </p:nvSpPr>
          <p:spPr>
            <a:xfrm>
              <a:off x="4535497" y="4163854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Modified Z Score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193D26F-E701-5058-6AA2-6A44775F4245}"/>
                </a:ext>
              </a:extLst>
            </p:cNvPr>
            <p:cNvSpPr/>
            <p:nvPr/>
          </p:nvSpPr>
          <p:spPr>
            <a:xfrm>
              <a:off x="7423652" y="3903940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Isolation Forest</a:t>
              </a:r>
            </a:p>
          </p:txBody>
        </p: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E6BB6BF4-97A0-6FB6-8597-6AD5BFFF5ED3}"/>
                </a:ext>
              </a:extLst>
            </p:cNvPr>
            <p:cNvCxnSpPr>
              <a:cxnSpLocks/>
              <a:stCxn id="62" idx="2"/>
              <a:endCxn id="67" idx="0"/>
            </p:cNvCxnSpPr>
            <p:nvPr/>
          </p:nvCxnSpPr>
          <p:spPr>
            <a:xfrm rot="5400000">
              <a:off x="3533698" y="1264755"/>
              <a:ext cx="510920" cy="3221442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E56A648-45A4-59E9-6562-D5FB75DA75AF}"/>
                </a:ext>
              </a:extLst>
            </p:cNvPr>
            <p:cNvCxnSpPr>
              <a:cxnSpLocks/>
              <a:stCxn id="62" idx="2"/>
              <a:endCxn id="68" idx="0"/>
            </p:cNvCxnSpPr>
            <p:nvPr/>
          </p:nvCxnSpPr>
          <p:spPr>
            <a:xfrm>
              <a:off x="5399879" y="2620016"/>
              <a:ext cx="0" cy="507552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EFCC138E-45C3-0F98-0AD5-B2A4633836FE}"/>
                </a:ext>
              </a:extLst>
            </p:cNvPr>
            <p:cNvCxnSpPr>
              <a:cxnSpLocks/>
              <a:stCxn id="62" idx="2"/>
              <a:endCxn id="69" idx="0"/>
            </p:cNvCxnSpPr>
            <p:nvPr/>
          </p:nvCxnSpPr>
          <p:spPr>
            <a:xfrm rot="16200000" flipH="1">
              <a:off x="6594124" y="1425770"/>
              <a:ext cx="499665" cy="2888155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A3E7DF6-972F-878C-8A7C-23622AF10ACA}"/>
                </a:ext>
              </a:extLst>
            </p:cNvPr>
            <p:cNvCxnSpPr>
              <a:cxnSpLocks/>
              <a:stCxn id="68" idx="2"/>
              <a:endCxn id="70" idx="0"/>
            </p:cNvCxnSpPr>
            <p:nvPr/>
          </p:nvCxnSpPr>
          <p:spPr>
            <a:xfrm>
              <a:off x="5399879" y="3478950"/>
              <a:ext cx="0" cy="165076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4F4A9E2-E13D-7C4F-1AA1-DA12C8BCAB85}"/>
                </a:ext>
              </a:extLst>
            </p:cNvPr>
            <p:cNvCxnSpPr>
              <a:cxnSpLocks/>
              <a:stCxn id="70" idx="2"/>
              <a:endCxn id="71" idx="0"/>
            </p:cNvCxnSpPr>
            <p:nvPr/>
          </p:nvCxnSpPr>
          <p:spPr>
            <a:xfrm>
              <a:off x="5399879" y="3995408"/>
              <a:ext cx="0" cy="168446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1C60773-46A6-06E7-534D-6D73A2553AB9}"/>
                </a:ext>
              </a:extLst>
            </p:cNvPr>
            <p:cNvCxnSpPr>
              <a:cxnSpLocks/>
              <a:stCxn id="69" idx="2"/>
              <a:endCxn id="72" idx="0"/>
            </p:cNvCxnSpPr>
            <p:nvPr/>
          </p:nvCxnSpPr>
          <p:spPr>
            <a:xfrm>
              <a:off x="8288034" y="3471063"/>
              <a:ext cx="0" cy="432877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BBD124D-FE96-C289-A7C5-D99D257AF2A5}"/>
                </a:ext>
              </a:extLst>
            </p:cNvPr>
            <p:cNvSpPr/>
            <p:nvPr/>
          </p:nvSpPr>
          <p:spPr>
            <a:xfrm>
              <a:off x="4535497" y="4884205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Evaluation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18918F8-1951-C610-EEF8-7C00FDD779C1}"/>
                </a:ext>
              </a:extLst>
            </p:cNvPr>
            <p:cNvSpPr/>
            <p:nvPr/>
          </p:nvSpPr>
          <p:spPr>
            <a:xfrm>
              <a:off x="4535497" y="5445568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Composite Fraud </a:t>
              </a:r>
            </a:p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Screening Index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B0DF5910-A16D-2BBD-8C56-2A2E07B0E177}"/>
                </a:ext>
              </a:extLst>
            </p:cNvPr>
            <p:cNvCxnSpPr>
              <a:cxnSpLocks/>
              <a:stCxn id="67" idx="2"/>
              <a:endCxn id="79" idx="0"/>
            </p:cNvCxnSpPr>
            <p:nvPr/>
          </p:nvCxnSpPr>
          <p:spPr>
            <a:xfrm rot="16200000" flipH="1">
              <a:off x="3604674" y="3088999"/>
              <a:ext cx="368969" cy="3221442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0295D482-C214-9897-323E-B053373DF915}"/>
                </a:ext>
              </a:extLst>
            </p:cNvPr>
            <p:cNvCxnSpPr>
              <a:cxnSpLocks/>
              <a:stCxn id="72" idx="2"/>
              <a:endCxn id="79" idx="0"/>
            </p:cNvCxnSpPr>
            <p:nvPr/>
          </p:nvCxnSpPr>
          <p:spPr>
            <a:xfrm rot="5400000">
              <a:off x="6529516" y="3125686"/>
              <a:ext cx="628883" cy="2888155"/>
            </a:xfrm>
            <a:prstGeom prst="bentConnector3">
              <a:avLst>
                <a:gd name="adj1" fmla="val 7181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0110BFD-9F56-1861-484C-BB81DC471FA1}"/>
                </a:ext>
              </a:extLst>
            </p:cNvPr>
            <p:cNvCxnSpPr>
              <a:cxnSpLocks/>
              <a:stCxn id="71" idx="2"/>
              <a:endCxn id="79" idx="0"/>
            </p:cNvCxnSpPr>
            <p:nvPr/>
          </p:nvCxnSpPr>
          <p:spPr>
            <a:xfrm>
              <a:off x="5399879" y="4515236"/>
              <a:ext cx="0" cy="368969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8ACE781-6558-8C3B-6E7D-C475B884763B}"/>
                </a:ext>
              </a:extLst>
            </p:cNvPr>
            <p:cNvCxnSpPr>
              <a:cxnSpLocks/>
              <a:stCxn id="79" idx="2"/>
              <a:endCxn id="80" idx="0"/>
            </p:cNvCxnSpPr>
            <p:nvPr/>
          </p:nvCxnSpPr>
          <p:spPr>
            <a:xfrm>
              <a:off x="5399879" y="5235587"/>
              <a:ext cx="0" cy="209981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FD87310-4611-6363-EE86-32D3101E0B75}"/>
                </a:ext>
              </a:extLst>
            </p:cNvPr>
            <p:cNvSpPr/>
            <p:nvPr/>
          </p:nvSpPr>
          <p:spPr>
            <a:xfrm>
              <a:off x="4535497" y="5967080"/>
              <a:ext cx="1728764" cy="351382"/>
            </a:xfrm>
            <a:prstGeom prst="rect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Categorization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28527C70-FBD9-EE78-59E0-80878170ABF3}"/>
                </a:ext>
              </a:extLst>
            </p:cNvPr>
            <p:cNvCxnSpPr>
              <a:cxnSpLocks/>
              <a:stCxn id="80" idx="2"/>
              <a:endCxn id="85" idx="0"/>
            </p:cNvCxnSpPr>
            <p:nvPr/>
          </p:nvCxnSpPr>
          <p:spPr>
            <a:xfrm>
              <a:off x="5399879" y="5796950"/>
              <a:ext cx="0" cy="170130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EB24F30-AE75-12AD-882D-F2B212154092}"/>
                </a:ext>
              </a:extLst>
            </p:cNvPr>
            <p:cNvSpPr/>
            <p:nvPr/>
          </p:nvSpPr>
          <p:spPr>
            <a:xfrm>
              <a:off x="2483115" y="6682148"/>
              <a:ext cx="792000" cy="351382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Very Low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7B5169B-9A4D-F946-0C0E-FC0B493C2ECD}"/>
                </a:ext>
              </a:extLst>
            </p:cNvPr>
            <p:cNvSpPr/>
            <p:nvPr/>
          </p:nvSpPr>
          <p:spPr>
            <a:xfrm>
              <a:off x="3743497" y="6681528"/>
              <a:ext cx="792000" cy="351382"/>
            </a:xfrm>
            <a:prstGeom prst="rect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90A8712-70A8-DC01-9023-94D52B03058E}"/>
                </a:ext>
              </a:extLst>
            </p:cNvPr>
            <p:cNvSpPr/>
            <p:nvPr/>
          </p:nvSpPr>
          <p:spPr>
            <a:xfrm>
              <a:off x="5003879" y="6681528"/>
              <a:ext cx="792000" cy="35138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Medium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31E5E31-55E5-D9F3-2F58-C14EA7000443}"/>
                </a:ext>
              </a:extLst>
            </p:cNvPr>
            <p:cNvSpPr/>
            <p:nvPr/>
          </p:nvSpPr>
          <p:spPr>
            <a:xfrm>
              <a:off x="6264261" y="6681528"/>
              <a:ext cx="792000" cy="351382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A983A57-41CF-3AAD-48A7-E4149582726A}"/>
                </a:ext>
              </a:extLst>
            </p:cNvPr>
            <p:cNvSpPr/>
            <p:nvPr/>
          </p:nvSpPr>
          <p:spPr>
            <a:xfrm>
              <a:off x="7524643" y="6675148"/>
              <a:ext cx="792000" cy="351382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Very High</a:t>
              </a:r>
            </a:p>
          </p:txBody>
        </p: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9308EC73-A7D9-23CF-DA54-E07E4EB7E657}"/>
                </a:ext>
              </a:extLst>
            </p:cNvPr>
            <p:cNvCxnSpPr>
              <a:cxnSpLocks/>
              <a:stCxn id="85" idx="2"/>
              <a:endCxn id="87" idx="0"/>
            </p:cNvCxnSpPr>
            <p:nvPr/>
          </p:nvCxnSpPr>
          <p:spPr>
            <a:xfrm rot="5400000">
              <a:off x="3957654" y="5239923"/>
              <a:ext cx="363686" cy="2520764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E1CBCEA-8475-F4A1-32A0-07F4C7679CD8}"/>
                </a:ext>
              </a:extLst>
            </p:cNvPr>
            <p:cNvCxnSpPr>
              <a:cxnSpLocks/>
              <a:stCxn id="85" idx="2"/>
              <a:endCxn id="89" idx="0"/>
            </p:cNvCxnSpPr>
            <p:nvPr/>
          </p:nvCxnSpPr>
          <p:spPr>
            <a:xfrm>
              <a:off x="5399879" y="6318462"/>
              <a:ext cx="0" cy="363066"/>
            </a:xfrm>
            <a:prstGeom prst="straightConnector1">
              <a:avLst/>
            </a:prstGeom>
            <a:grpFill/>
            <a:ln w="28575">
              <a:solidFill>
                <a:schemeClr val="bg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38BE9415-DD80-D0D5-3CFC-632E182C372C}"/>
                </a:ext>
              </a:extLst>
            </p:cNvPr>
            <p:cNvCxnSpPr>
              <a:cxnSpLocks/>
              <a:stCxn id="85" idx="2"/>
              <a:endCxn id="88" idx="0"/>
            </p:cNvCxnSpPr>
            <p:nvPr/>
          </p:nvCxnSpPr>
          <p:spPr>
            <a:xfrm rot="5400000">
              <a:off x="4588155" y="5869804"/>
              <a:ext cx="363066" cy="1260382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: Elbow 94">
              <a:extLst>
                <a:ext uri="{FF2B5EF4-FFF2-40B4-BE49-F238E27FC236}">
                  <a16:creationId xmlns:a16="http://schemas.microsoft.com/office/drawing/2014/main" id="{763E8FFA-B39A-6EF6-8BB2-7B02D9057760}"/>
                </a:ext>
              </a:extLst>
            </p:cNvPr>
            <p:cNvCxnSpPr>
              <a:cxnSpLocks/>
              <a:stCxn id="85" idx="2"/>
              <a:endCxn id="90" idx="0"/>
            </p:cNvCxnSpPr>
            <p:nvPr/>
          </p:nvCxnSpPr>
          <p:spPr>
            <a:xfrm rot="16200000" flipH="1">
              <a:off x="5848537" y="5869804"/>
              <a:ext cx="363066" cy="1260382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5DD0AB1F-B052-1811-0401-FD3BDBBDE9F2}"/>
                </a:ext>
              </a:extLst>
            </p:cNvPr>
            <p:cNvCxnSpPr>
              <a:cxnSpLocks/>
              <a:stCxn id="85" idx="2"/>
              <a:endCxn id="91" idx="0"/>
            </p:cNvCxnSpPr>
            <p:nvPr/>
          </p:nvCxnSpPr>
          <p:spPr>
            <a:xfrm rot="16200000" flipH="1">
              <a:off x="6481918" y="5236423"/>
              <a:ext cx="356686" cy="2520764"/>
            </a:xfrm>
            <a:prstGeom prst="bentConnector3">
              <a:avLst>
                <a:gd name="adj1" fmla="val 50000"/>
              </a:avLst>
            </a:prstGeom>
            <a:grpFill/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63A7ADF8-B513-F346-E62B-DE9B8DB3F07D}"/>
              </a:ext>
            </a:extLst>
          </p:cNvPr>
          <p:cNvSpPr txBox="1"/>
          <p:nvPr/>
        </p:nvSpPr>
        <p:spPr>
          <a:xfrm>
            <a:off x="11495650" y="1822893"/>
            <a:ext cx="59541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dataset consists of all PKK transactions processed during 2025 observation period, covering </a:t>
            </a:r>
            <a:r>
              <a:rPr lang="en-GB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257</a:t>
            </a:r>
            <a:r>
              <a:rPr lang="en-GB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commercial ports across Indonesia and total </a:t>
            </a:r>
            <a:r>
              <a:rPr lang="en-GB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746,896 </a:t>
            </a:r>
            <a:r>
              <a:rPr lang="en-GB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approval transaction.</a:t>
            </a:r>
            <a:endParaRPr lang="en-ID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426AA6C-ACFA-50C6-9E90-3DDB3E079A39}"/>
              </a:ext>
            </a:extLst>
          </p:cNvPr>
          <p:cNvCxnSpPr>
            <a:cxnSpLocks/>
            <a:stCxn id="98" idx="2"/>
            <a:endCxn id="101" idx="0"/>
          </p:cNvCxnSpPr>
          <p:nvPr/>
        </p:nvCxnSpPr>
        <p:spPr>
          <a:xfrm>
            <a:off x="14472721" y="3146332"/>
            <a:ext cx="0" cy="632276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AA2C470-7AD7-9872-8C1E-4F6A4701E758}"/>
              </a:ext>
            </a:extLst>
          </p:cNvPr>
          <p:cNvSpPr txBox="1"/>
          <p:nvPr/>
        </p:nvSpPr>
        <p:spPr>
          <a:xfrm>
            <a:off x="11495650" y="3778608"/>
            <a:ext cx="5954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preprocessing resulted </a:t>
            </a:r>
            <a:r>
              <a:rPr lang="en-GB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734,622</a:t>
            </a:r>
            <a:endParaRPr lang="en-ID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376A75E-0C8C-FED4-9B94-B225F4AD5622}"/>
              </a:ext>
            </a:extLst>
          </p:cNvPr>
          <p:cNvCxnSpPr>
            <a:cxnSpLocks/>
            <a:stCxn id="101" idx="2"/>
            <a:endCxn id="110" idx="0"/>
          </p:cNvCxnSpPr>
          <p:nvPr/>
        </p:nvCxnSpPr>
        <p:spPr>
          <a:xfrm>
            <a:off x="14472721" y="4178718"/>
            <a:ext cx="1848" cy="186055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7788F59-624A-6761-096E-F24B71941128}"/>
              </a:ext>
            </a:extLst>
          </p:cNvPr>
          <p:cNvSpPr txBox="1"/>
          <p:nvPr/>
        </p:nvSpPr>
        <p:spPr>
          <a:xfrm>
            <a:off x="12336367" y="6039272"/>
            <a:ext cx="4276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Anomaly Detection</a:t>
            </a:r>
            <a:endParaRPr lang="en-ID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E95A0C9-C4F8-8668-F3B0-593DDC418C30}"/>
              </a:ext>
            </a:extLst>
          </p:cNvPr>
          <p:cNvSpPr/>
          <p:nvPr/>
        </p:nvSpPr>
        <p:spPr>
          <a:xfrm>
            <a:off x="152400" y="4849169"/>
            <a:ext cx="10755713" cy="250263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BEA537A-D3AC-0EB6-B461-390DBBABE2BB}"/>
              </a:ext>
            </a:extLst>
          </p:cNvPr>
          <p:cNvSpPr txBox="1"/>
          <p:nvPr/>
        </p:nvSpPr>
        <p:spPr>
          <a:xfrm>
            <a:off x="12324911" y="8063997"/>
            <a:ext cx="4276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Composite index</a:t>
            </a:r>
            <a:endParaRPr lang="en-ID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0E0DCA6-E404-403A-3F0F-52BAEDC2B988}"/>
              </a:ext>
            </a:extLst>
          </p:cNvPr>
          <p:cNvSpPr txBox="1"/>
          <p:nvPr/>
        </p:nvSpPr>
        <p:spPr>
          <a:xfrm>
            <a:off x="12336367" y="9169590"/>
            <a:ext cx="4276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Risk Classification</a:t>
            </a:r>
            <a:endParaRPr lang="en-ID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9C36900-EE8F-CA3A-3140-392E7856F36A}"/>
              </a:ext>
            </a:extLst>
          </p:cNvPr>
          <p:cNvCxnSpPr>
            <a:cxnSpLocks/>
            <a:stCxn id="110" idx="2"/>
            <a:endCxn id="117" idx="0"/>
          </p:cNvCxnSpPr>
          <p:nvPr/>
        </p:nvCxnSpPr>
        <p:spPr>
          <a:xfrm flipH="1">
            <a:off x="14463113" y="6439382"/>
            <a:ext cx="11456" cy="1624615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852388D-F58E-9051-9322-ED972307F7B2}"/>
              </a:ext>
            </a:extLst>
          </p:cNvPr>
          <p:cNvCxnSpPr>
            <a:cxnSpLocks/>
            <a:stCxn id="117" idx="2"/>
            <a:endCxn id="118" idx="0"/>
          </p:cNvCxnSpPr>
          <p:nvPr/>
        </p:nvCxnSpPr>
        <p:spPr>
          <a:xfrm>
            <a:off x="14463113" y="8464107"/>
            <a:ext cx="11456" cy="705483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D09582E-877F-C365-57CC-0A4E1FDC845B}"/>
              </a:ext>
            </a:extLst>
          </p:cNvPr>
          <p:cNvGrpSpPr/>
          <p:nvPr/>
        </p:nvGrpSpPr>
        <p:grpSpPr>
          <a:xfrm>
            <a:off x="17208217" y="9258300"/>
            <a:ext cx="1066800" cy="870047"/>
            <a:chOff x="16687800" y="9166564"/>
            <a:chExt cx="1066800" cy="870047"/>
          </a:xfrm>
        </p:grpSpPr>
        <p:pic>
          <p:nvPicPr>
            <p:cNvPr id="137" name="Picture 2">
              <a:extLst>
                <a:ext uri="{FF2B5EF4-FFF2-40B4-BE49-F238E27FC236}">
                  <a16:creationId xmlns:a16="http://schemas.microsoft.com/office/drawing/2014/main" id="{08CADF58-4C84-843F-DEF8-E330E4FA3B9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2D00DF2-6C01-E82C-5330-CD6A561D4AA1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-10800000">
            <a:off x="0" y="0"/>
            <a:ext cx="489605" cy="10287000"/>
            <a:chOff x="0" y="0"/>
            <a:chExt cx="128949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49" cy="2709333"/>
            </a:xfrm>
            <a:custGeom>
              <a:avLst/>
              <a:gdLst/>
              <a:ahLst/>
              <a:cxnLst/>
              <a:rect l="l" t="t" r="r" b="b"/>
              <a:pathLst>
                <a:path w="128949" h="2709333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04C48B08-1561-6478-B59A-3D4B8CD28FB0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7635F0E7-0E6C-6C37-567B-0927F70805D1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</p:spPr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E116B8A-3699-5E90-3878-7997588B35EE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23" name="TextBox 11">
            <a:extLst>
              <a:ext uri="{FF2B5EF4-FFF2-40B4-BE49-F238E27FC236}">
                <a16:creationId xmlns:a16="http://schemas.microsoft.com/office/drawing/2014/main" id="{C43870EC-21F3-8D05-6917-505E01D0EDCE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44C40E4-DCEC-B85E-903A-F51D7DF5D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55425"/>
              </p:ext>
            </p:extLst>
          </p:nvPr>
        </p:nvGraphicFramePr>
        <p:xfrm>
          <a:off x="489606" y="2887131"/>
          <a:ext cx="17798394" cy="6447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2798">
                  <a:extLst>
                    <a:ext uri="{9D8B030D-6E8A-4147-A177-3AD203B41FA5}">
                      <a16:colId xmlns:a16="http://schemas.microsoft.com/office/drawing/2014/main" val="2805011728"/>
                    </a:ext>
                  </a:extLst>
                </a:gridCol>
                <a:gridCol w="5932798">
                  <a:extLst>
                    <a:ext uri="{9D8B030D-6E8A-4147-A177-3AD203B41FA5}">
                      <a16:colId xmlns:a16="http://schemas.microsoft.com/office/drawing/2014/main" val="3481541908"/>
                    </a:ext>
                  </a:extLst>
                </a:gridCol>
                <a:gridCol w="5932798">
                  <a:extLst>
                    <a:ext uri="{9D8B030D-6E8A-4147-A177-3AD203B41FA5}">
                      <a16:colId xmlns:a16="http://schemas.microsoft.com/office/drawing/2014/main" val="3212689366"/>
                    </a:ext>
                  </a:extLst>
                </a:gridCol>
              </a:tblGrid>
              <a:tr h="644737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83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615115C-3754-47CE-DD1E-A0EDF03D00FA}"/>
              </a:ext>
            </a:extLst>
          </p:cNvPr>
          <p:cNvSpPr txBox="1"/>
          <p:nvPr/>
        </p:nvSpPr>
        <p:spPr>
          <a:xfrm>
            <a:off x="860851" y="2043659"/>
            <a:ext cx="5158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dirty="0">
                <a:solidFill>
                  <a:schemeClr val="bg1"/>
                </a:solidFill>
                <a:latin typeface="Aptos" panose="020B0004020202020204" pitchFamily="34" charset="0"/>
              </a:rPr>
              <a:t>Why Three Methods?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D05AE-4BEC-08B7-2011-7B037B8BE898}"/>
              </a:ext>
            </a:extLst>
          </p:cNvPr>
          <p:cNvSpPr txBox="1"/>
          <p:nvPr/>
        </p:nvSpPr>
        <p:spPr>
          <a:xfrm>
            <a:off x="489606" y="3319901"/>
            <a:ext cx="5911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400" b="1" dirty="0">
                <a:latin typeface="Arial" panose="020B0604020202020204" pitchFamily="34" charset="0"/>
                <a:cs typeface="Arial" panose="020B0604020202020204" pitchFamily="34" charset="0"/>
              </a:rPr>
              <a:t>Rule-Based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0F6B6B-A850-A4A4-C35C-AC12A87533B0}"/>
              </a:ext>
            </a:extLst>
          </p:cNvPr>
          <p:cNvSpPr txBox="1"/>
          <p:nvPr/>
        </p:nvSpPr>
        <p:spPr>
          <a:xfrm>
            <a:off x="6444928" y="3301803"/>
            <a:ext cx="5911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400" b="1" dirty="0">
                <a:latin typeface="Arial" panose="020B0604020202020204" pitchFamily="34" charset="0"/>
                <a:cs typeface="Arial" panose="020B0604020202020204" pitchFamily="34" charset="0"/>
              </a:rPr>
              <a:t>Modified Z-score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1DB614-4214-F5F7-1B38-2158E63A0FD1}"/>
              </a:ext>
            </a:extLst>
          </p:cNvPr>
          <p:cNvSpPr txBox="1"/>
          <p:nvPr/>
        </p:nvSpPr>
        <p:spPr>
          <a:xfrm>
            <a:off x="12366464" y="3145398"/>
            <a:ext cx="5911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400" b="1" dirty="0">
                <a:latin typeface="Arial" panose="020B0604020202020204" pitchFamily="34" charset="0"/>
                <a:cs typeface="Arial" panose="020B0604020202020204" pitchFamily="34" charset="0"/>
              </a:rPr>
              <a:t>Unsupervised Machine Learning:</a:t>
            </a:r>
          </a:p>
          <a:p>
            <a:pPr algn="ctr"/>
            <a:r>
              <a:rPr lang="en-ID" sz="2400" b="1" dirty="0">
                <a:latin typeface="Arial" panose="020B0604020202020204" pitchFamily="34" charset="0"/>
                <a:cs typeface="Arial" panose="020B0604020202020204" pitchFamily="34" charset="0"/>
              </a:rPr>
              <a:t>Isolation Forest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D865FB-FCB3-9DB5-C010-C02A33A3F8CF}"/>
              </a:ext>
            </a:extLst>
          </p:cNvPr>
          <p:cNvSpPr txBox="1"/>
          <p:nvPr/>
        </p:nvSpPr>
        <p:spPr>
          <a:xfrm>
            <a:off x="526052" y="3976395"/>
            <a:ext cx="5860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dirty="0"/>
              <a:t>Violation of predefined operational red flags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E05956-6DC2-6416-901A-B293F5CFE9F1}"/>
              </a:ext>
            </a:extLst>
          </p:cNvPr>
          <p:cNvSpPr txBox="1"/>
          <p:nvPr/>
        </p:nvSpPr>
        <p:spPr>
          <a:xfrm>
            <a:off x="6386418" y="4039662"/>
            <a:ext cx="5929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dirty="0"/>
              <a:t>Extreme statistical deviation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238939-1EFD-C59F-C94D-C72CB1E96FA0}"/>
              </a:ext>
            </a:extLst>
          </p:cNvPr>
          <p:cNvSpPr txBox="1"/>
          <p:nvPr/>
        </p:nvSpPr>
        <p:spPr>
          <a:xfrm>
            <a:off x="12387347" y="4012205"/>
            <a:ext cx="5890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dirty="0"/>
              <a:t>Multidimensional &amp; nonlinear anomaly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86A23EF-A410-D181-6A54-64BE683F2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177293"/>
              </p:ext>
            </p:extLst>
          </p:nvPr>
        </p:nvGraphicFramePr>
        <p:xfrm>
          <a:off x="611097" y="4377958"/>
          <a:ext cx="5631765" cy="39466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2503">
                  <a:extLst>
                    <a:ext uri="{9D8B030D-6E8A-4147-A177-3AD203B41FA5}">
                      <a16:colId xmlns:a16="http://schemas.microsoft.com/office/drawing/2014/main" val="348574909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524347358"/>
                    </a:ext>
                  </a:extLst>
                </a:gridCol>
                <a:gridCol w="2509062">
                  <a:extLst>
                    <a:ext uri="{9D8B030D-6E8A-4147-A177-3AD203B41FA5}">
                      <a16:colId xmlns:a16="http://schemas.microsoft.com/office/drawing/2014/main" val="3294475886"/>
                    </a:ext>
                  </a:extLst>
                </a:gridCol>
              </a:tblGrid>
              <a:tr h="2081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400" dirty="0"/>
                        <a:t>Rule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400" dirty="0"/>
                        <a:t>Threshold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400" dirty="0"/>
                        <a:t>Rationale</a:t>
                      </a:r>
                    </a:p>
                  </a:txBody>
                  <a:tcPr marL="88814" marR="88814" marT="44407" marB="44407" anchor="ctr"/>
                </a:tc>
                <a:extLst>
                  <a:ext uri="{0D108BD9-81ED-4DB2-BD59-A6C34878D82A}">
                    <a16:rowId xmlns:a16="http://schemas.microsoft.com/office/drawing/2014/main" val="3793872207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 dirty="0"/>
                        <a:t>Quick Approval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 dirty="0"/>
                        <a:t>&lt; 10 seconds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May indicate insufficient document verification.</a:t>
                      </a:r>
                    </a:p>
                  </a:txBody>
                  <a:tcPr marL="88814" marR="88814" marT="44407" marB="44407" anchor="ctr"/>
                </a:tc>
                <a:extLst>
                  <a:ext uri="{0D108BD9-81ED-4DB2-BD59-A6C34878D82A}">
                    <a16:rowId xmlns:a16="http://schemas.microsoft.com/office/drawing/2014/main" val="3120041204"/>
                  </a:ext>
                </a:extLst>
              </a:tr>
              <a:tr h="548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Long Duration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&gt; 8 hours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 dirty="0"/>
                        <a:t>Prolonged processing may create opportunities for bribery or process manipulation.</a:t>
                      </a:r>
                    </a:p>
                  </a:txBody>
                  <a:tcPr marL="88814" marR="88814" marT="44407" marB="44407" anchor="ctr"/>
                </a:tc>
                <a:extLst>
                  <a:ext uri="{0D108BD9-81ED-4DB2-BD59-A6C34878D82A}">
                    <a16:rowId xmlns:a16="http://schemas.microsoft.com/office/drawing/2014/main" val="1750501184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Low Oversight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00:00–04:00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Approval during low-supervision hours may increase fraud exposure.</a:t>
                      </a:r>
                    </a:p>
                  </a:txBody>
                  <a:tcPr marL="88814" marR="88814" marT="44407" marB="44407" anchor="ctr"/>
                </a:tc>
                <a:extLst>
                  <a:ext uri="{0D108BD9-81ED-4DB2-BD59-A6C34878D82A}">
                    <a16:rowId xmlns:a16="http://schemas.microsoft.com/office/drawing/2014/main" val="2668904414"/>
                  </a:ext>
                </a:extLst>
              </a:tr>
              <a:tr h="548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GT Manipulation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GT modified within 6 months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Frequent changes in vessel GT may indicate potential data manipulation.</a:t>
                      </a:r>
                    </a:p>
                  </a:txBody>
                  <a:tcPr marL="88814" marR="88814" marT="44407" marB="44407" anchor="ctr"/>
                </a:tc>
                <a:extLst>
                  <a:ext uri="{0D108BD9-81ED-4DB2-BD59-A6C34878D82A}">
                    <a16:rowId xmlns:a16="http://schemas.microsoft.com/office/drawing/2014/main" val="2652709325"/>
                  </a:ext>
                </a:extLst>
              </a:tr>
              <a:tr h="719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Same Vessel in Two Ports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/>
                        <a:t>&lt; 2 hours</a:t>
                      </a:r>
                    </a:p>
                  </a:txBody>
                  <a:tcPr marL="88814" marR="88814" marT="44407" marB="444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400" dirty="0"/>
                        <a:t>Vessel movement between two ports within an implausibly short period represents an operational red flag.</a:t>
                      </a:r>
                    </a:p>
                  </a:txBody>
                  <a:tcPr marL="88814" marR="88814" marT="44407" marB="44407" anchor="ctr"/>
                </a:tc>
                <a:extLst>
                  <a:ext uri="{0D108BD9-81ED-4DB2-BD59-A6C34878D82A}">
                    <a16:rowId xmlns:a16="http://schemas.microsoft.com/office/drawing/2014/main" val="1077955749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1EA62057-6D7A-298A-6279-7EFAF574E63B}"/>
              </a:ext>
            </a:extLst>
          </p:cNvPr>
          <p:cNvSpPr txBox="1"/>
          <p:nvPr/>
        </p:nvSpPr>
        <p:spPr>
          <a:xfrm>
            <a:off x="6400799" y="4906348"/>
            <a:ext cx="5911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38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Develop regression model as predicted approval duration</a:t>
            </a:r>
            <a:endParaRPr lang="en-ID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E02889-4B0E-C30F-E1A3-6B1568EC1F0D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9351027" y="4439772"/>
            <a:ext cx="5369" cy="466576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2271677-52E2-0E9D-8794-4A644B0F73B1}"/>
              </a:ext>
            </a:extLst>
          </p:cNvPr>
          <p:cNvCxnSpPr>
            <a:cxnSpLocks/>
            <a:stCxn id="44" idx="2"/>
            <a:endCxn id="55" idx="0"/>
          </p:cNvCxnSpPr>
          <p:nvPr/>
        </p:nvCxnSpPr>
        <p:spPr>
          <a:xfrm>
            <a:off x="9356396" y="5737345"/>
            <a:ext cx="18023" cy="601066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FBCFCB6-59DB-AEA9-B7BF-0AFC51035B57}"/>
              </a:ext>
            </a:extLst>
          </p:cNvPr>
          <p:cNvSpPr txBox="1"/>
          <p:nvPr/>
        </p:nvSpPr>
        <p:spPr>
          <a:xfrm>
            <a:off x="6418822" y="6338411"/>
            <a:ext cx="5911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38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4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Develop regression model as predicted approval duration</a:t>
            </a:r>
            <a:endParaRPr lang="en-ID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720763-DCA2-14EA-7AAD-336FCC850BD6}"/>
              </a:ext>
            </a:extLst>
          </p:cNvPr>
          <p:cNvSpPr txBox="1"/>
          <p:nvPr/>
        </p:nvSpPr>
        <p:spPr>
          <a:xfrm>
            <a:off x="6482442" y="7628994"/>
            <a:ext cx="5847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residual anomalies were </a:t>
            </a:r>
            <a:r>
              <a:rPr lang="en-GB" sz="2400" dirty="0">
                <a:cs typeface="Times New Roman" panose="02020603050405020304" pitchFamily="18" charset="0"/>
              </a:rPr>
              <a:t>quantified</a:t>
            </a:r>
            <a:r>
              <a:rPr lang="en-GB" sz="2400" dirty="0">
                <a:effectLst/>
                <a:latin typeface="+mn-lt"/>
                <a:ea typeface="Times New Roman" panose="02020603050405020304" pitchFamily="18" charset="0"/>
              </a:rPr>
              <a:t> using the Modified Z-Score based on Median Absolute Deviation (MAD)</a:t>
            </a:r>
            <a:endParaRPr lang="en-ID" sz="24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75FFDE8-9EB1-8193-8D7A-B227FDA97BB5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>
            <a:off x="9374419" y="7169408"/>
            <a:ext cx="31810" cy="459586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C57D061-5EFB-7808-49E6-EBF15E597133}"/>
              </a:ext>
            </a:extLst>
          </p:cNvPr>
          <p:cNvSpPr txBox="1"/>
          <p:nvPr/>
        </p:nvSpPr>
        <p:spPr>
          <a:xfrm>
            <a:off x="12387347" y="5527725"/>
            <a:ext cx="58646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400" dirty="0"/>
              <a:t>Model was trained on the full dataset using approval duration, vessel GT, service volume, and approval time to identify multidimensional anomalous patterns.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9240C2-584E-6D19-F68A-FEC873B3DAE2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CA5C5A14-DB15-0E19-8389-384B8D684110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8FA8EF9C-5D9E-4A98-6E6A-48D5A68F5A40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79" name="TextBox 11">
              <a:extLst>
                <a:ext uri="{FF2B5EF4-FFF2-40B4-BE49-F238E27FC236}">
                  <a16:creationId xmlns:a16="http://schemas.microsoft.com/office/drawing/2014/main" id="{E0DB35B2-90AA-B4B4-BBA5-DB8CFA884F50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1567AED-FA25-090C-4EB9-355A30CF9231}"/>
              </a:ext>
            </a:extLst>
          </p:cNvPr>
          <p:cNvGrpSpPr/>
          <p:nvPr/>
        </p:nvGrpSpPr>
        <p:grpSpPr>
          <a:xfrm>
            <a:off x="17208217" y="9258300"/>
            <a:ext cx="1066800" cy="870047"/>
            <a:chOff x="16687800" y="9166564"/>
            <a:chExt cx="1066800" cy="870047"/>
          </a:xfrm>
        </p:grpSpPr>
        <p:pic>
          <p:nvPicPr>
            <p:cNvPr id="81" name="Picture 2">
              <a:extLst>
                <a:ext uri="{FF2B5EF4-FFF2-40B4-BE49-F238E27FC236}">
                  <a16:creationId xmlns:a16="http://schemas.microsoft.com/office/drawing/2014/main" id="{2E329287-C31C-9E10-F779-E05491686CDE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2CB46AA-71AF-5074-C200-D93F8ABE9206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10800000">
            <a:off x="18049761" y="0"/>
            <a:ext cx="276056" cy="10287000"/>
            <a:chOff x="0" y="0"/>
            <a:chExt cx="7270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F135BE-D820-3D06-2A45-E9894991D5D8}"/>
              </a:ext>
            </a:extLst>
          </p:cNvPr>
          <p:cNvGrpSpPr/>
          <p:nvPr/>
        </p:nvGrpSpPr>
        <p:grpSpPr>
          <a:xfrm>
            <a:off x="16687800" y="9166564"/>
            <a:ext cx="1066800" cy="870047"/>
            <a:chOff x="16687800" y="9166564"/>
            <a:chExt cx="1066800" cy="870047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72DCEB7A-7FB2-12CC-D0DD-424C3837B44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1DB1C9-B5C4-4274-1B62-9B9E2E7A2358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73BF3D5D-82F5-6BDF-BD76-32A76C54D83B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Result</a:t>
            </a:r>
          </a:p>
        </p:txBody>
      </p:sp>
      <p:grpSp>
        <p:nvGrpSpPr>
          <p:cNvPr id="41" name="Group 5">
            <a:extLst>
              <a:ext uri="{FF2B5EF4-FFF2-40B4-BE49-F238E27FC236}">
                <a16:creationId xmlns:a16="http://schemas.microsoft.com/office/drawing/2014/main" id="{F7F9A01D-578F-187D-8484-09E2187CCBEB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D8F64004-BB35-9051-9FA5-E1E69B21736A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3" name="TextBox 7">
              <a:extLst>
                <a:ext uri="{FF2B5EF4-FFF2-40B4-BE49-F238E27FC236}">
                  <a16:creationId xmlns:a16="http://schemas.microsoft.com/office/drawing/2014/main" id="{16D10CED-D1A9-5489-5A13-DC1258AB42B6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5E1C59-DAEE-D3F7-1BB0-23AE61AAA2DA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7DB78E05-85EC-03EB-7FEA-42BA35DFCCBD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Freeform 10">
              <a:extLst>
                <a:ext uri="{FF2B5EF4-FFF2-40B4-BE49-F238E27FC236}">
                  <a16:creationId xmlns:a16="http://schemas.microsoft.com/office/drawing/2014/main" id="{708F5DDA-52A8-FFDD-211D-E4945F716E67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TextBox 11">
              <a:extLst>
                <a:ext uri="{FF2B5EF4-FFF2-40B4-BE49-F238E27FC236}">
                  <a16:creationId xmlns:a16="http://schemas.microsoft.com/office/drawing/2014/main" id="{CFF607CE-6EA2-3A1E-0AF3-E2547D5EFE81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4A90D82-3A6F-63DF-511D-F92884F7BB8B}"/>
              </a:ext>
            </a:extLst>
          </p:cNvPr>
          <p:cNvSpPr txBox="1"/>
          <p:nvPr/>
        </p:nvSpPr>
        <p:spPr>
          <a:xfrm>
            <a:off x="540434" y="1652200"/>
            <a:ext cx="9193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6000" b="1" dirty="0">
                <a:latin typeface="Aptos" panose="020B0004020202020204" pitchFamily="34" charset="0"/>
              </a:rPr>
              <a:t>734,622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2AEFF1-D2D8-CB79-5DB8-8D70F472C712}"/>
              </a:ext>
            </a:extLst>
          </p:cNvPr>
          <p:cNvSpPr txBox="1"/>
          <p:nvPr/>
        </p:nvSpPr>
        <p:spPr>
          <a:xfrm>
            <a:off x="540434" y="2375475"/>
            <a:ext cx="9193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/>
              <a:t>PKK transactions </a:t>
            </a:r>
            <a:r>
              <a:rPr lang="en-ID" sz="3200" b="1" dirty="0" err="1"/>
              <a:t>analyzed</a:t>
            </a:r>
            <a:endParaRPr lang="en-ID" sz="3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8CD37C-C6A8-9C37-0393-64008106D10E}"/>
              </a:ext>
            </a:extLst>
          </p:cNvPr>
          <p:cNvSpPr txBox="1"/>
          <p:nvPr/>
        </p:nvSpPr>
        <p:spPr>
          <a:xfrm>
            <a:off x="1398340" y="3271716"/>
            <a:ext cx="9193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6000" b="1" dirty="0">
                <a:latin typeface="Aptos" panose="020B0004020202020204" pitchFamily="34" charset="0"/>
              </a:rPr>
              <a:t>56,306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C4798C-7D0A-DEF4-DE36-7C9A1E6CC73E}"/>
              </a:ext>
            </a:extLst>
          </p:cNvPr>
          <p:cNvSpPr txBox="1"/>
          <p:nvPr/>
        </p:nvSpPr>
        <p:spPr>
          <a:xfrm>
            <a:off x="1398340" y="4025017"/>
            <a:ext cx="9193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/>
              <a:t>Rule-based red flags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F03F0A-41BF-8562-2BC9-C9C6AE4417BB}"/>
              </a:ext>
            </a:extLst>
          </p:cNvPr>
          <p:cNvSpPr txBox="1"/>
          <p:nvPr/>
        </p:nvSpPr>
        <p:spPr>
          <a:xfrm>
            <a:off x="540434" y="4658604"/>
            <a:ext cx="91934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6000" b="1" dirty="0">
                <a:latin typeface="Aptos" panose="020B0004020202020204" pitchFamily="34" charset="0"/>
              </a:rPr>
              <a:t>465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57B0DCC-9DCC-D434-088C-B6243365818B}"/>
              </a:ext>
            </a:extLst>
          </p:cNvPr>
          <p:cNvSpPr txBox="1"/>
          <p:nvPr/>
        </p:nvSpPr>
        <p:spPr>
          <a:xfrm>
            <a:off x="539734" y="5563225"/>
            <a:ext cx="100520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/>
              <a:t>Extreme statistical anomalies</a:t>
            </a:r>
          </a:p>
          <a:p>
            <a:r>
              <a:rPr lang="en-ID" sz="3200" b="1" dirty="0"/>
              <a:t>(based on modified Z-score)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8FBD20A-0C27-CBF8-C588-05E43BBB85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1652200"/>
            <a:ext cx="9540586" cy="554167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004819EC-5A53-2087-A84D-36E8743B4FED}"/>
              </a:ext>
            </a:extLst>
          </p:cNvPr>
          <p:cNvSpPr txBox="1"/>
          <p:nvPr/>
        </p:nvSpPr>
        <p:spPr>
          <a:xfrm>
            <a:off x="8839201" y="7074813"/>
            <a:ext cx="769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effectLst/>
                <a:latin typeface="+mn-lt"/>
                <a:ea typeface="Times New Roman" panose="02020603050405020304" pitchFamily="18" charset="0"/>
              </a:rPr>
              <a:t>Red flag (rule based) percentage on volume transaction across all ports</a:t>
            </a:r>
            <a:endParaRPr lang="en-ID" sz="2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32C950-FEE2-A13C-BC1F-A8DFDADC193B}"/>
              </a:ext>
            </a:extLst>
          </p:cNvPr>
          <p:cNvSpPr txBox="1"/>
          <p:nvPr/>
        </p:nvSpPr>
        <p:spPr>
          <a:xfrm>
            <a:off x="708421" y="7114134"/>
            <a:ext cx="91934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1" dirty="0">
                <a:latin typeface="Aptos" panose="020B0004020202020204" pitchFamily="34" charset="0"/>
              </a:rPr>
              <a:t>-0.36 to -0.75</a:t>
            </a:r>
            <a:endParaRPr lang="en-ID" sz="5400" b="1" dirty="0">
              <a:latin typeface="Aptos" panose="020B00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28E6CC-8174-8221-A458-D85963809976}"/>
              </a:ext>
            </a:extLst>
          </p:cNvPr>
          <p:cNvSpPr txBox="1"/>
          <p:nvPr/>
        </p:nvSpPr>
        <p:spPr>
          <a:xfrm>
            <a:off x="688038" y="7922883"/>
            <a:ext cx="91862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/>
              <a:t>isolation forest anomaly scores, </a:t>
            </a:r>
            <a:r>
              <a:rPr lang="en-US" sz="3200" b="1" dirty="0"/>
              <a:t>increasing negative scores represent unusual approval behavior</a:t>
            </a:r>
            <a:r>
              <a:rPr lang="en-ID" sz="3200" b="1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AA6D-21E2-A0A1-373C-C8D6F311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DDC9A68-2335-4E77-FCDE-938B28201825}"/>
              </a:ext>
            </a:extLst>
          </p:cNvPr>
          <p:cNvGrpSpPr/>
          <p:nvPr/>
        </p:nvGrpSpPr>
        <p:grpSpPr>
          <a:xfrm rot="-10800000">
            <a:off x="18121941" y="0"/>
            <a:ext cx="680830" cy="10287000"/>
            <a:chOff x="0" y="0"/>
            <a:chExt cx="257899" cy="2709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70816F1-784E-CF32-0C55-BE5F76FE9821}"/>
                </a:ext>
              </a:extLst>
            </p:cNvPr>
            <p:cNvSpPr/>
            <p:nvPr/>
          </p:nvSpPr>
          <p:spPr>
            <a:xfrm>
              <a:off x="0" y="0"/>
              <a:ext cx="257899" cy="2709333"/>
            </a:xfrm>
            <a:custGeom>
              <a:avLst/>
              <a:gdLst/>
              <a:ahLst/>
              <a:cxnLst/>
              <a:rect l="l" t="t" r="r" b="b"/>
              <a:pathLst>
                <a:path w="257899" h="2709333">
                  <a:moveTo>
                    <a:pt x="0" y="0"/>
                  </a:moveTo>
                  <a:lnTo>
                    <a:pt x="257899" y="0"/>
                  </a:lnTo>
                  <a:lnTo>
                    <a:pt x="25789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933E5E-624B-1648-E00E-2862193BE610}"/>
                </a:ext>
              </a:extLst>
            </p:cNvPr>
            <p:cNvSpPr txBox="1"/>
            <p:nvPr/>
          </p:nvSpPr>
          <p:spPr>
            <a:xfrm>
              <a:off x="0" y="0"/>
              <a:ext cx="257899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C322EC4-BD68-4061-4597-D386F491F66C}"/>
              </a:ext>
            </a:extLst>
          </p:cNvPr>
          <p:cNvSpPr/>
          <p:nvPr/>
        </p:nvSpPr>
        <p:spPr>
          <a:xfrm>
            <a:off x="13106400" y="65536"/>
            <a:ext cx="5029201" cy="5876682"/>
          </a:xfrm>
          <a:custGeom>
            <a:avLst/>
            <a:gdLst/>
            <a:ahLst/>
            <a:cxnLst/>
            <a:rect l="l" t="t" r="r" b="b"/>
            <a:pathLst>
              <a:path w="6477211" h="6477211">
                <a:moveTo>
                  <a:pt x="0" y="0"/>
                </a:moveTo>
                <a:lnTo>
                  <a:pt x="6477210" y="0"/>
                </a:lnTo>
                <a:lnTo>
                  <a:pt x="6477210" y="6477211"/>
                </a:lnTo>
                <a:lnTo>
                  <a:pt x="0" y="6477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1EE9DB2-114D-9DE8-4F7D-8433FC481AD4}"/>
              </a:ext>
            </a:extLst>
          </p:cNvPr>
          <p:cNvGrpSpPr/>
          <p:nvPr/>
        </p:nvGrpSpPr>
        <p:grpSpPr>
          <a:xfrm>
            <a:off x="-1" y="9582740"/>
            <a:ext cx="18135601" cy="704260"/>
            <a:chOff x="0" y="0"/>
            <a:chExt cx="3071717" cy="34669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508025F-2C04-7CA8-8C0F-7B34EF0C0081}"/>
                </a:ext>
              </a:extLst>
            </p:cNvPr>
            <p:cNvSpPr/>
            <p:nvPr/>
          </p:nvSpPr>
          <p:spPr>
            <a:xfrm>
              <a:off x="0" y="0"/>
              <a:ext cx="3071717" cy="346694"/>
            </a:xfrm>
            <a:custGeom>
              <a:avLst/>
              <a:gdLst/>
              <a:ahLst/>
              <a:cxnLst/>
              <a:rect l="l" t="t" r="r" b="b"/>
              <a:pathLst>
                <a:path w="3071717" h="346694">
                  <a:moveTo>
                    <a:pt x="0" y="0"/>
                  </a:moveTo>
                  <a:lnTo>
                    <a:pt x="3071717" y="0"/>
                  </a:lnTo>
                  <a:lnTo>
                    <a:pt x="3071717" y="346694"/>
                  </a:lnTo>
                  <a:lnTo>
                    <a:pt x="0" y="346694"/>
                  </a:lnTo>
                  <a:close/>
                </a:path>
              </a:pathLst>
            </a:custGeom>
            <a:solidFill>
              <a:srgbClr val="2F55AB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AA5FC68-8702-2816-9EE6-8A61FFDACC70}"/>
                </a:ext>
              </a:extLst>
            </p:cNvPr>
            <p:cNvSpPr txBox="1"/>
            <p:nvPr/>
          </p:nvSpPr>
          <p:spPr>
            <a:xfrm>
              <a:off x="0" y="0"/>
              <a:ext cx="3071717" cy="346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2B370D7-C557-5720-1DE9-F1EA4AB52DB6}"/>
              </a:ext>
            </a:extLst>
          </p:cNvPr>
          <p:cNvSpPr txBox="1"/>
          <p:nvPr/>
        </p:nvSpPr>
        <p:spPr>
          <a:xfrm>
            <a:off x="426382" y="294923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Result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64B553-D7B5-61B1-6E44-665CB36AEA56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42F156CA-05B9-FF25-2CF0-ABE0915FEE8E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4B0BCEAD-27EE-468E-6DFB-8C7CDD5EA730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69C6A808-AEE8-7EB7-F55E-0D30C8400954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grpSp>
        <p:nvGrpSpPr>
          <p:cNvPr id="17" name="Group 5">
            <a:extLst>
              <a:ext uri="{FF2B5EF4-FFF2-40B4-BE49-F238E27FC236}">
                <a16:creationId xmlns:a16="http://schemas.microsoft.com/office/drawing/2014/main" id="{CE53BB05-2BDA-1972-65C9-3E7FEEDA2EDF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AFAA7B4-35FE-161C-5756-C997152F7E86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AD48A91F-BB34-3B0F-5591-672BDF056844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940783-EBE7-2F2D-D4E2-9B8E1D584B9E}"/>
              </a:ext>
            </a:extLst>
          </p:cNvPr>
          <p:cNvGrpSpPr/>
          <p:nvPr/>
        </p:nvGrpSpPr>
        <p:grpSpPr>
          <a:xfrm>
            <a:off x="17208217" y="9258300"/>
            <a:ext cx="1066800" cy="870047"/>
            <a:chOff x="16687800" y="9166564"/>
            <a:chExt cx="1066800" cy="87004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2372883E-A95C-8908-0EDF-BE335AA2861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6DF13D1-9CD0-6151-BF18-8C1017FC35F5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8347E8F-69DD-68CC-9B14-4C99D1E70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403255"/>
              </p:ext>
            </p:extLst>
          </p:nvPr>
        </p:nvGraphicFramePr>
        <p:xfrm>
          <a:off x="426382" y="2250889"/>
          <a:ext cx="10591800" cy="334980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19722">
                  <a:extLst>
                    <a:ext uri="{9D8B030D-6E8A-4147-A177-3AD203B41FA5}">
                      <a16:colId xmlns:a16="http://schemas.microsoft.com/office/drawing/2014/main" val="989994373"/>
                    </a:ext>
                  </a:extLst>
                </a:gridCol>
                <a:gridCol w="1160406">
                  <a:extLst>
                    <a:ext uri="{9D8B030D-6E8A-4147-A177-3AD203B41FA5}">
                      <a16:colId xmlns:a16="http://schemas.microsoft.com/office/drawing/2014/main" val="1371974890"/>
                    </a:ext>
                  </a:extLst>
                </a:gridCol>
                <a:gridCol w="913511">
                  <a:extLst>
                    <a:ext uri="{9D8B030D-6E8A-4147-A177-3AD203B41FA5}">
                      <a16:colId xmlns:a16="http://schemas.microsoft.com/office/drawing/2014/main" val="3266159621"/>
                    </a:ext>
                  </a:extLst>
                </a:gridCol>
                <a:gridCol w="1888748">
                  <a:extLst>
                    <a:ext uri="{9D8B030D-6E8A-4147-A177-3AD203B41FA5}">
                      <a16:colId xmlns:a16="http://schemas.microsoft.com/office/drawing/2014/main" val="69517380"/>
                    </a:ext>
                  </a:extLst>
                </a:gridCol>
                <a:gridCol w="1777645">
                  <a:extLst>
                    <a:ext uri="{9D8B030D-6E8A-4147-A177-3AD203B41FA5}">
                      <a16:colId xmlns:a16="http://schemas.microsoft.com/office/drawing/2014/main" val="3426738085"/>
                    </a:ext>
                  </a:extLst>
                </a:gridCol>
                <a:gridCol w="2629434">
                  <a:extLst>
                    <a:ext uri="{9D8B030D-6E8A-4147-A177-3AD203B41FA5}">
                      <a16:colId xmlns:a16="http://schemas.microsoft.com/office/drawing/2014/main" val="1399290132"/>
                    </a:ext>
                  </a:extLst>
                </a:gridCol>
                <a:gridCol w="1802334">
                  <a:extLst>
                    <a:ext uri="{9D8B030D-6E8A-4147-A177-3AD203B41FA5}">
                      <a16:colId xmlns:a16="http://schemas.microsoft.com/office/drawing/2014/main" val="2643089493"/>
                    </a:ext>
                  </a:extLst>
                </a:gridCol>
              </a:tblGrid>
              <a:tr h="40792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Volume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Anomaly Detection Approach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Composite Index</a:t>
                      </a:r>
                      <a:endParaRPr lang="en-ID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2270480"/>
                  </a:ext>
                </a:extLst>
              </a:tr>
              <a:tr h="490314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 Based Index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Statistical Index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 Learning Index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561691"/>
                  </a:ext>
                </a:extLst>
              </a:tr>
              <a:tr h="490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Lahewa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0.77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1377858"/>
                  </a:ext>
                </a:extLst>
              </a:tr>
              <a:tr h="490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Samarinda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7934541"/>
                  </a:ext>
                </a:extLst>
              </a:tr>
              <a:tr h="490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Pomako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756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0.66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4232060"/>
                  </a:ext>
                </a:extLst>
              </a:tr>
              <a:tr h="490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Sinabang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351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7730616"/>
                  </a:ext>
                </a:extLst>
              </a:tr>
              <a:tr h="4903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Benete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10867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40055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8DE1266-6458-D671-8E46-7D19E0E68A72}"/>
              </a:ext>
            </a:extLst>
          </p:cNvPr>
          <p:cNvSpPr txBox="1"/>
          <p:nvPr/>
        </p:nvSpPr>
        <p:spPr>
          <a:xfrm>
            <a:off x="1536558" y="1700121"/>
            <a:ext cx="9481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Top 5 composite fraud risk scoring index</a:t>
            </a:r>
            <a:endParaRPr lang="en-ID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37CE36E-FFED-4350-E616-449B9D16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36215"/>
              </p:ext>
            </p:extLst>
          </p:nvPr>
        </p:nvGraphicFramePr>
        <p:xfrm>
          <a:off x="8186532" y="6080238"/>
          <a:ext cx="9034668" cy="34826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5778">
                  <a:extLst>
                    <a:ext uri="{9D8B030D-6E8A-4147-A177-3AD203B41FA5}">
                      <a16:colId xmlns:a16="http://schemas.microsoft.com/office/drawing/2014/main" val="1328457542"/>
                    </a:ext>
                  </a:extLst>
                </a:gridCol>
                <a:gridCol w="1505778">
                  <a:extLst>
                    <a:ext uri="{9D8B030D-6E8A-4147-A177-3AD203B41FA5}">
                      <a16:colId xmlns:a16="http://schemas.microsoft.com/office/drawing/2014/main" val="1808991097"/>
                    </a:ext>
                  </a:extLst>
                </a:gridCol>
                <a:gridCol w="1505778">
                  <a:extLst>
                    <a:ext uri="{9D8B030D-6E8A-4147-A177-3AD203B41FA5}">
                      <a16:colId xmlns:a16="http://schemas.microsoft.com/office/drawing/2014/main" val="2935083534"/>
                    </a:ext>
                  </a:extLst>
                </a:gridCol>
                <a:gridCol w="1505778">
                  <a:extLst>
                    <a:ext uri="{9D8B030D-6E8A-4147-A177-3AD203B41FA5}">
                      <a16:colId xmlns:a16="http://schemas.microsoft.com/office/drawing/2014/main" val="1812169247"/>
                    </a:ext>
                  </a:extLst>
                </a:gridCol>
                <a:gridCol w="1505778">
                  <a:extLst>
                    <a:ext uri="{9D8B030D-6E8A-4147-A177-3AD203B41FA5}">
                      <a16:colId xmlns:a16="http://schemas.microsoft.com/office/drawing/2014/main" val="1140088652"/>
                    </a:ext>
                  </a:extLst>
                </a:gridCol>
                <a:gridCol w="1505778">
                  <a:extLst>
                    <a:ext uri="{9D8B030D-6E8A-4147-A177-3AD203B41FA5}">
                      <a16:colId xmlns:a16="http://schemas.microsoft.com/office/drawing/2014/main" val="661157332"/>
                    </a:ext>
                  </a:extLst>
                </a:gridCol>
              </a:tblGrid>
              <a:tr h="33395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No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Risk Category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Percentile approach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u="none" strike="noStrike">
                          <a:effectLst/>
                        </a:rPr>
                        <a:t>Fixed-scale</a:t>
                      </a:r>
                      <a:endParaRPr lang="en-ID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017796"/>
                  </a:ext>
                </a:extLst>
              </a:tr>
              <a:tr h="52478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Range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Number of Port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Range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1" u="none" strike="noStrike" dirty="0">
                          <a:effectLst/>
                        </a:rPr>
                        <a:t>Number of Port</a:t>
                      </a:r>
                      <a:endParaRPr lang="en-ID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1017780"/>
                  </a:ext>
                </a:extLst>
              </a:tr>
              <a:tr h="5247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 dirty="0">
                          <a:effectLst/>
                        </a:rPr>
                        <a:t>Very High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0.458 - 0.771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52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0.82 – 1.00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9814338"/>
                  </a:ext>
                </a:extLst>
              </a:tr>
              <a:tr h="5247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High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0.413 - 0.457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51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0.64 – 0.82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3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6220257"/>
                  </a:ext>
                </a:extLst>
              </a:tr>
              <a:tr h="5247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3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Medium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0.381 - 0.412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51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0.46 – 0.64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48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5982999"/>
                  </a:ext>
                </a:extLst>
              </a:tr>
              <a:tr h="5247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4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Low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0.352 - 0.380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51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0.28 – 0.46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185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9220338"/>
                  </a:ext>
                </a:extLst>
              </a:tr>
              <a:tr h="5247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5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Very Low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0.125 - 0.351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52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>
                          <a:effectLst/>
                        </a:rPr>
                        <a:t>0.10 – 0.28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u="none" strike="noStrike" dirty="0">
                          <a:effectLst/>
                        </a:rPr>
                        <a:t>21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67319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5881CDE6-F22C-90D3-EAF5-8AF002CB8324}"/>
              </a:ext>
            </a:extLst>
          </p:cNvPr>
          <p:cNvSpPr txBox="1"/>
          <p:nvPr/>
        </p:nvSpPr>
        <p:spPr>
          <a:xfrm>
            <a:off x="4584774" y="7359895"/>
            <a:ext cx="33851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Classification of composite index based on percentile approach and fixed scale</a:t>
            </a:r>
            <a:endParaRPr lang="en-I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5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1ED19-4256-B84B-05D9-75025C5D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5613E6-6AFB-6724-1E85-A97EFB6483BD}"/>
              </a:ext>
            </a:extLst>
          </p:cNvPr>
          <p:cNvGrpSpPr/>
          <p:nvPr/>
        </p:nvGrpSpPr>
        <p:grpSpPr>
          <a:xfrm>
            <a:off x="0" y="-31066"/>
            <a:ext cx="9144000" cy="10287000"/>
            <a:chOff x="0" y="0"/>
            <a:chExt cx="1493067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E9D4C8-667C-D71D-16E0-7093F6499E3B}"/>
                </a:ext>
              </a:extLst>
            </p:cNvPr>
            <p:cNvSpPr/>
            <p:nvPr/>
          </p:nvSpPr>
          <p:spPr>
            <a:xfrm>
              <a:off x="0" y="0"/>
              <a:ext cx="1493067" cy="2709333"/>
            </a:xfrm>
            <a:custGeom>
              <a:avLst/>
              <a:gdLst/>
              <a:ahLst/>
              <a:cxnLst/>
              <a:rect l="l" t="t" r="r" b="b"/>
              <a:pathLst>
                <a:path w="1493067" h="2709333">
                  <a:moveTo>
                    <a:pt x="0" y="0"/>
                  </a:moveTo>
                  <a:lnTo>
                    <a:pt x="1493067" y="0"/>
                  </a:lnTo>
                  <a:lnTo>
                    <a:pt x="149306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CFBDBB-6776-94EC-A1AA-F09755ED6265}"/>
                </a:ext>
              </a:extLst>
            </p:cNvPr>
            <p:cNvSpPr txBox="1"/>
            <p:nvPr/>
          </p:nvSpPr>
          <p:spPr>
            <a:xfrm>
              <a:off x="0" y="0"/>
              <a:ext cx="1493067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662BE03-49C0-BC48-FA42-896CEAF59C22}"/>
              </a:ext>
            </a:extLst>
          </p:cNvPr>
          <p:cNvGrpSpPr/>
          <p:nvPr/>
        </p:nvGrpSpPr>
        <p:grpSpPr>
          <a:xfrm rot="-10800000">
            <a:off x="9044072" y="-31066"/>
            <a:ext cx="276056" cy="10287000"/>
            <a:chOff x="0" y="0"/>
            <a:chExt cx="72706" cy="27093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6D2829-6DAE-E9EB-3188-CE0B7EEEA3BB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12A8C11-104A-25B6-CC18-08DFA20CCA1A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17" name="TextBox 11">
            <a:extLst>
              <a:ext uri="{FF2B5EF4-FFF2-40B4-BE49-F238E27FC236}">
                <a16:creationId xmlns:a16="http://schemas.microsoft.com/office/drawing/2014/main" id="{8762F0D2-9FD7-BD45-24A9-4630EBD80F42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9EE010BD-DB74-6505-739A-9B3FE165F139}"/>
              </a:ext>
            </a:extLst>
          </p:cNvPr>
          <p:cNvGrpSpPr/>
          <p:nvPr/>
        </p:nvGrpSpPr>
        <p:grpSpPr>
          <a:xfrm rot="16200000">
            <a:off x="4701541" y="-3091464"/>
            <a:ext cx="45719" cy="9144001"/>
            <a:chOff x="0" y="0"/>
            <a:chExt cx="72706" cy="270933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9C1D91B-B8BD-47BB-9D4C-D06587AD3385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8FE133AA-8B09-E2FA-BDB3-BF18292F41AA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5C9D88-48F1-83AD-81FD-C913A3B1AA85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310277C-2AF9-E854-AA63-BDC5B54A92F0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9D4D530-65A6-F516-9547-451192E449A0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11">
              <a:extLst>
                <a:ext uri="{FF2B5EF4-FFF2-40B4-BE49-F238E27FC236}">
                  <a16:creationId xmlns:a16="http://schemas.microsoft.com/office/drawing/2014/main" id="{049E3439-C460-42A5-DFF9-C61A206CEE5E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sp>
        <p:nvSpPr>
          <p:cNvPr id="27" name="TextBox 12">
            <a:extLst>
              <a:ext uri="{FF2B5EF4-FFF2-40B4-BE49-F238E27FC236}">
                <a16:creationId xmlns:a16="http://schemas.microsoft.com/office/drawing/2014/main" id="{048244C1-E7BB-4E84-4FC3-15AC773280F8}"/>
              </a:ext>
            </a:extLst>
          </p:cNvPr>
          <p:cNvSpPr txBox="1"/>
          <p:nvPr/>
        </p:nvSpPr>
        <p:spPr>
          <a:xfrm>
            <a:off x="9369062" y="1503397"/>
            <a:ext cx="8929489" cy="9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597" lvl="1" algn="ctr">
              <a:lnSpc>
                <a:spcPct val="200000"/>
              </a:lnSpc>
            </a:pPr>
            <a:r>
              <a:rPr lang="en-US" sz="3600" b="1" dirty="0">
                <a:solidFill>
                  <a:schemeClr val="bg1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Research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056EF767-DD5E-D4EA-3F5C-AD44CF08A574}"/>
              </a:ext>
            </a:extLst>
          </p:cNvPr>
          <p:cNvSpPr txBox="1"/>
          <p:nvPr/>
        </p:nvSpPr>
        <p:spPr>
          <a:xfrm>
            <a:off x="23730" y="1515793"/>
            <a:ext cx="9044070" cy="9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8597" lvl="1" algn="ctr">
              <a:lnSpc>
                <a:spcPct val="200000"/>
              </a:lnSpc>
            </a:pPr>
            <a:r>
              <a:rPr lang="en-US" sz="3600" b="1" dirty="0">
                <a:latin typeface="DM Sans Bold"/>
                <a:ea typeface="DM Sans Bold"/>
                <a:cs typeface="DM Sans Bold"/>
                <a:sym typeface="DM Sans Bold"/>
              </a:rPr>
              <a:t>Fraud Risk Management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3D596A-3BB5-3603-17A3-B0FF0B8412AD}"/>
              </a:ext>
            </a:extLst>
          </p:cNvPr>
          <p:cNvSpPr txBox="1"/>
          <p:nvPr/>
        </p:nvSpPr>
        <p:spPr>
          <a:xfrm>
            <a:off x="9919248" y="3097489"/>
            <a:ext cx="7829116" cy="554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 Validation:</a:t>
            </a:r>
            <a:r>
              <a:rPr lang="en-ID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 research should validate the composite risk index through targeted field audits to assess its effectiveness as an early warning indicator.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Intervention:</a:t>
            </a:r>
            <a:r>
              <a:rPr lang="en-ID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 studies should integrate risk scores with service volume through quadrant analysis to develop more targeted and prioritized intervention strategies.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Methodological Scalability:</a:t>
            </a:r>
            <a:r>
              <a:rPr lang="en-ID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 research should extend the analytical architecture to other </a:t>
            </a:r>
            <a:r>
              <a:rPr lang="en-ID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Inaportnet</a:t>
            </a:r>
            <a:r>
              <a:rPr lang="en-ID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modules and administrative processes with high transaction volumes, heterogeneous units, and limited fraud labels.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23B39-061B-CD56-92BA-2F31BC00EE44}"/>
              </a:ext>
            </a:extLst>
          </p:cNvPr>
          <p:cNvSpPr txBox="1"/>
          <p:nvPr/>
        </p:nvSpPr>
        <p:spPr>
          <a:xfrm>
            <a:off x="0" y="2835878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Digital Transaction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5F286-6543-2A7B-EB89-C946761E3D05}"/>
              </a:ext>
            </a:extLst>
          </p:cNvPr>
          <p:cNvSpPr txBox="1"/>
          <p:nvPr/>
        </p:nvSpPr>
        <p:spPr>
          <a:xfrm>
            <a:off x="0" y="3716582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Anomaly Detection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3831A-6B23-E199-2F9B-5F25F67C0985}"/>
              </a:ext>
            </a:extLst>
          </p:cNvPr>
          <p:cNvSpPr txBox="1"/>
          <p:nvPr/>
        </p:nvSpPr>
        <p:spPr>
          <a:xfrm>
            <a:off x="-1" y="4693799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Composite Fraud Risk Screening Index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49C917-A295-ABB1-C19C-563C85A33139}"/>
              </a:ext>
            </a:extLst>
          </p:cNvPr>
          <p:cNvSpPr txBox="1"/>
          <p:nvPr/>
        </p:nvSpPr>
        <p:spPr>
          <a:xfrm>
            <a:off x="15938" y="5707054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Risk Prioritization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CBE5E7-5941-EBFB-FA49-A8C37F589BA2}"/>
              </a:ext>
            </a:extLst>
          </p:cNvPr>
          <p:cNvSpPr txBox="1"/>
          <p:nvPr/>
        </p:nvSpPr>
        <p:spPr>
          <a:xfrm>
            <a:off x="23477" y="6699550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Audit / Investigation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8EA007-0355-B871-A129-5014E02BE126}"/>
              </a:ext>
            </a:extLst>
          </p:cNvPr>
          <p:cNvSpPr txBox="1"/>
          <p:nvPr/>
        </p:nvSpPr>
        <p:spPr>
          <a:xfrm>
            <a:off x="7968" y="7721742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Validation &amp; Feedback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CE1E64-DB83-3990-F45F-86FB0DF3633B}"/>
              </a:ext>
            </a:extLst>
          </p:cNvPr>
          <p:cNvSpPr txBox="1"/>
          <p:nvPr/>
        </p:nvSpPr>
        <p:spPr>
          <a:xfrm>
            <a:off x="0" y="8658880"/>
            <a:ext cx="90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800" dirty="0">
                <a:latin typeface="Arial" panose="020B0604020202020204" pitchFamily="34" charset="0"/>
                <a:cs typeface="Arial" panose="020B0604020202020204" pitchFamily="34" charset="0"/>
              </a:rPr>
              <a:t>Model Recalibration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E48AA7-1118-B62A-5089-4C1254BC7B27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4500000" y="3339878"/>
            <a:ext cx="0" cy="37670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F50EDB-649C-7067-D40B-9DABF017806B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4499999" y="4220582"/>
            <a:ext cx="1" cy="473217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B052D3C-F856-A810-35BC-EFC4C17206DB}"/>
              </a:ext>
            </a:extLst>
          </p:cNvPr>
          <p:cNvCxnSpPr>
            <a:cxnSpLocks/>
            <a:stCxn id="15" idx="2"/>
            <a:endCxn id="25" idx="0"/>
          </p:cNvCxnSpPr>
          <p:nvPr/>
        </p:nvCxnSpPr>
        <p:spPr>
          <a:xfrm>
            <a:off x="4499999" y="5197799"/>
            <a:ext cx="15939" cy="509255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F99A67-F07C-2517-7015-519023A44CD3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4515938" y="6211054"/>
            <a:ext cx="7539" cy="488496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B605568-0A80-188F-A92C-1D071019910C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 flipH="1">
            <a:off x="4507968" y="7203550"/>
            <a:ext cx="15509" cy="518192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72AA9D3-1428-7B7F-781F-09FCAB9795D5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4500000" y="8225742"/>
            <a:ext cx="7968" cy="43313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9652B6-8377-195B-7866-1DA158F4FDF4}"/>
              </a:ext>
            </a:extLst>
          </p:cNvPr>
          <p:cNvGrpSpPr/>
          <p:nvPr/>
        </p:nvGrpSpPr>
        <p:grpSpPr>
          <a:xfrm>
            <a:off x="17208217" y="9258300"/>
            <a:ext cx="1066800" cy="870047"/>
            <a:chOff x="16687800" y="9166564"/>
            <a:chExt cx="1066800" cy="870047"/>
          </a:xfrm>
        </p:grpSpPr>
        <p:pic>
          <p:nvPicPr>
            <p:cNvPr id="69" name="Picture 2">
              <a:extLst>
                <a:ext uri="{FF2B5EF4-FFF2-40B4-BE49-F238E27FC236}">
                  <a16:creationId xmlns:a16="http://schemas.microsoft.com/office/drawing/2014/main" id="{665BA3DC-C460-870C-292C-5C432D1CF86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10F0A9A-499B-CB75-0BEE-02E2F6665BDE}"/>
                </a:ext>
              </a:extLst>
            </p:cNvPr>
            <p:cNvSpPr txBox="1"/>
            <p:nvPr/>
          </p:nvSpPr>
          <p:spPr>
            <a:xfrm>
              <a:off x="16840200" y="92583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8721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3C0BC-0A1D-47DA-FF65-33F3E133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5">
            <a:extLst>
              <a:ext uri="{FF2B5EF4-FFF2-40B4-BE49-F238E27FC236}">
                <a16:creationId xmlns:a16="http://schemas.microsoft.com/office/drawing/2014/main" id="{9D345C4B-EA6C-96C8-EB93-5A537B4A971A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49768B1-337A-835F-EFDC-F917D120F70A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</p:spPr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AB82281D-5564-67E2-6E41-9E53B97A98EB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sp>
        <p:nvSpPr>
          <p:cNvPr id="13" name="TextBox 11">
            <a:extLst>
              <a:ext uri="{FF2B5EF4-FFF2-40B4-BE49-F238E27FC236}">
                <a16:creationId xmlns:a16="http://schemas.microsoft.com/office/drawing/2014/main" id="{BC3BE7CB-219D-D393-F356-742BE593EE08}"/>
              </a:ext>
            </a:extLst>
          </p:cNvPr>
          <p:cNvSpPr txBox="1"/>
          <p:nvPr/>
        </p:nvSpPr>
        <p:spPr>
          <a:xfrm>
            <a:off x="540434" y="266700"/>
            <a:ext cx="9471486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7471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8BBB86-E156-9CE5-6083-49D0EFE04FBB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494224F2-0E3A-F6DF-4428-906280F744AA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7A7149D-349F-54AD-32E0-A8F5F8B04E64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A7368074-7DCE-CDAC-C896-6A3FAA84BBBA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B0387D6-1E23-79DC-3DD3-C12346D502D6}"/>
              </a:ext>
            </a:extLst>
          </p:cNvPr>
          <p:cNvSpPr txBox="1"/>
          <p:nvPr/>
        </p:nvSpPr>
        <p:spPr>
          <a:xfrm>
            <a:off x="540434" y="2019300"/>
            <a:ext cx="1538536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ID" sz="4800" dirty="0">
                <a:solidFill>
                  <a:schemeClr val="bg1"/>
                </a:solidFill>
                <a:latin typeface="Aptos" panose="020B0004020202020204" pitchFamily="34" charset="0"/>
              </a:rPr>
              <a:t>Digital footprints can become anti-fraud intelligence. </a:t>
            </a:r>
            <a:r>
              <a:rPr lang="en-US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Inaportnet</a:t>
            </a:r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 operational data can be used to detect patterns that deviate from normal conditions.</a:t>
            </a:r>
          </a:p>
          <a:p>
            <a:pPr marL="914400" indent="-914400">
              <a:buFont typeface="+mj-lt"/>
              <a:buAutoNum type="arabicPeriod"/>
            </a:pPr>
            <a:endParaRPr lang="en-ID" sz="3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914400" indent="-914400">
              <a:buFont typeface="+mj-lt"/>
              <a:buAutoNum type="arabicPeriod"/>
            </a:pPr>
            <a:r>
              <a:rPr lang="en-ID" sz="4800" dirty="0">
                <a:solidFill>
                  <a:schemeClr val="bg1"/>
                </a:solidFill>
                <a:latin typeface="Aptos" panose="020B0004020202020204" pitchFamily="34" charset="0"/>
              </a:rPr>
              <a:t>Hybrid detection is more informative</a:t>
            </a:r>
          </a:p>
          <a:p>
            <a:pPr marL="889000"/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Rule-based, statistical, and machine learning approaches provide complementary perspectives on anomalies.</a:t>
            </a:r>
          </a:p>
          <a:p>
            <a:pPr marL="914400" indent="-914400">
              <a:buFont typeface="+mj-lt"/>
              <a:buAutoNum type="arabicPeriod"/>
            </a:pPr>
            <a:endParaRPr lang="en-US" sz="48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914400" indent="-914400">
              <a:buFont typeface="+mj-lt"/>
              <a:buAutoNum type="arabicPeriod" startAt="3"/>
            </a:pPr>
            <a:r>
              <a:rPr lang="en-US" sz="4800" dirty="0">
                <a:solidFill>
                  <a:schemeClr val="bg1"/>
                </a:solidFill>
                <a:latin typeface="Aptos" panose="020B0004020202020204" pitchFamily="34" charset="0"/>
              </a:rPr>
              <a:t>CFRSI is a prioritization tool, not a fraud verdict</a:t>
            </a:r>
          </a:p>
          <a:p>
            <a:pPr marL="889000"/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CFRSI helps determine where supervisory resources should be allocated first, but the results still require field validation.</a:t>
            </a:r>
            <a:endParaRPr lang="en-ID" sz="3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24ED9A-7512-CE89-AFBE-6FB4BF1A42B1}"/>
              </a:ext>
            </a:extLst>
          </p:cNvPr>
          <p:cNvGrpSpPr/>
          <p:nvPr/>
        </p:nvGrpSpPr>
        <p:grpSpPr>
          <a:xfrm>
            <a:off x="17208216" y="9258300"/>
            <a:ext cx="1066801" cy="870047"/>
            <a:chOff x="16687799" y="9166564"/>
            <a:chExt cx="1066801" cy="870047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3619A79D-7F0F-3180-BE6D-60BD310B1B9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6629269" y="9225095"/>
              <a:ext cx="870047" cy="75298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B29CF6-6A86-D0A1-5A3F-3DCD95CC2C96}"/>
                </a:ext>
              </a:extLst>
            </p:cNvPr>
            <p:cNvSpPr txBox="1"/>
            <p:nvPr/>
          </p:nvSpPr>
          <p:spPr>
            <a:xfrm>
              <a:off x="16687799" y="9258300"/>
              <a:ext cx="1066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825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3AAB8">
                <a:alpha val="100000"/>
              </a:srgbClr>
            </a:gs>
            <a:gs pos="50000">
              <a:srgbClr val="100A70">
                <a:alpha val="100000"/>
              </a:srgbClr>
            </a:gs>
            <a:gs pos="100000">
              <a:srgbClr val="4A97D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438400" y="4425483"/>
            <a:ext cx="11493549" cy="143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98"/>
              </a:lnSpc>
            </a:pPr>
            <a:r>
              <a:rPr lang="en-US" sz="892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30A8A1-A699-D340-1F25-E9A5ACEC7D27}"/>
              </a:ext>
            </a:extLst>
          </p:cNvPr>
          <p:cNvGrpSpPr/>
          <p:nvPr/>
        </p:nvGrpSpPr>
        <p:grpSpPr>
          <a:xfrm>
            <a:off x="13187570" y="51818"/>
            <a:ext cx="5062047" cy="824482"/>
            <a:chOff x="13187570" y="51818"/>
            <a:chExt cx="5062047" cy="824482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FC21A13-8389-E444-57FA-21EBA4FEEE88}"/>
                </a:ext>
              </a:extLst>
            </p:cNvPr>
            <p:cNvSpPr/>
            <p:nvPr/>
          </p:nvSpPr>
          <p:spPr>
            <a:xfrm>
              <a:off x="13187570" y="128018"/>
              <a:ext cx="680830" cy="748282"/>
            </a:xfrm>
            <a:custGeom>
              <a:avLst/>
              <a:gdLst/>
              <a:ahLst/>
              <a:cxnLst/>
              <a:rect l="l" t="t" r="r" b="b"/>
              <a:pathLst>
                <a:path w="1090453" h="1268890">
                  <a:moveTo>
                    <a:pt x="0" y="0"/>
                  </a:moveTo>
                  <a:lnTo>
                    <a:pt x="1090453" y="0"/>
                  </a:lnTo>
                  <a:lnTo>
                    <a:pt x="1090453" y="1268890"/>
                  </a:lnTo>
                  <a:lnTo>
                    <a:pt x="0" y="1268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16E99D0-5D04-50A3-259B-C5C2E4D819AE}"/>
                </a:ext>
              </a:extLst>
            </p:cNvPr>
            <p:cNvSpPr/>
            <p:nvPr/>
          </p:nvSpPr>
          <p:spPr>
            <a:xfrm>
              <a:off x="13944600" y="51818"/>
              <a:ext cx="762000" cy="748282"/>
            </a:xfrm>
            <a:custGeom>
              <a:avLst/>
              <a:gdLst/>
              <a:ahLst/>
              <a:cxnLst/>
              <a:rect l="l" t="t" r="r" b="b"/>
              <a:pathLst>
                <a:path w="1481118" h="1473240">
                  <a:moveTo>
                    <a:pt x="0" y="0"/>
                  </a:moveTo>
                  <a:lnTo>
                    <a:pt x="1481118" y="0"/>
                  </a:lnTo>
                  <a:lnTo>
                    <a:pt x="1481118" y="1473240"/>
                  </a:lnTo>
                  <a:lnTo>
                    <a:pt x="0" y="1473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D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E82590-C058-5191-1625-850DC39CB954}"/>
                </a:ext>
              </a:extLst>
            </p:cNvPr>
            <p:cNvSpPr txBox="1"/>
            <p:nvPr/>
          </p:nvSpPr>
          <p:spPr>
            <a:xfrm>
              <a:off x="14782800" y="65536"/>
              <a:ext cx="3466817" cy="7482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INSPEKTORAT JENDERAL</a:t>
              </a:r>
            </a:p>
            <a:p>
              <a:pPr>
                <a:lnSpc>
                  <a:spcPts val="3147"/>
                </a:lnSpc>
              </a:pPr>
              <a:r>
                <a:rPr lang="en-US" sz="1600" b="1" spc="44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KEMENTERIAN PERHUBUNGAN</a:t>
              </a:r>
            </a:p>
          </p:txBody>
        </p:sp>
      </p:grpSp>
      <p:grpSp>
        <p:nvGrpSpPr>
          <p:cNvPr id="13" name="Group 5">
            <a:extLst>
              <a:ext uri="{FF2B5EF4-FFF2-40B4-BE49-F238E27FC236}">
                <a16:creationId xmlns:a16="http://schemas.microsoft.com/office/drawing/2014/main" id="{17417F1E-6281-3531-0BDA-FBD29EDC43D8}"/>
              </a:ext>
            </a:extLst>
          </p:cNvPr>
          <p:cNvGrpSpPr/>
          <p:nvPr/>
        </p:nvGrpSpPr>
        <p:grpSpPr>
          <a:xfrm rot="16200000">
            <a:off x="5243688" y="-3633611"/>
            <a:ext cx="104423" cy="10287000"/>
            <a:chOff x="0" y="0"/>
            <a:chExt cx="72706" cy="2709333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C4E484E-2D51-210C-5F73-9869476EB071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86071492-813F-9362-E0C1-54BFF718F642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DA34E497-F477-626B-9BB2-CA0059DDFD54}"/>
              </a:ext>
            </a:extLst>
          </p:cNvPr>
          <p:cNvGrpSpPr/>
          <p:nvPr/>
        </p:nvGrpSpPr>
        <p:grpSpPr>
          <a:xfrm rot="16200000">
            <a:off x="12863688" y="3738036"/>
            <a:ext cx="104423" cy="10287000"/>
            <a:chOff x="0" y="0"/>
            <a:chExt cx="72706" cy="2709333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2663113-72FD-D081-29A3-B1E26D7658E2}"/>
                </a:ext>
              </a:extLst>
            </p:cNvPr>
            <p:cNvSpPr/>
            <p:nvPr/>
          </p:nvSpPr>
          <p:spPr>
            <a:xfrm>
              <a:off x="0" y="0"/>
              <a:ext cx="72706" cy="2709333"/>
            </a:xfrm>
            <a:custGeom>
              <a:avLst/>
              <a:gdLst/>
              <a:ahLst/>
              <a:cxnLst/>
              <a:rect l="l" t="t" r="r" b="b"/>
              <a:pathLst>
                <a:path w="72706" h="2709333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CDF27C06-054E-9F69-DCB9-BCE2F3D0AA60}"/>
                </a:ext>
              </a:extLst>
            </p:cNvPr>
            <p:cNvSpPr txBox="1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954</Words>
  <Application>Microsoft Office PowerPoint</Application>
  <PresentationFormat>Custom</PresentationFormat>
  <Paragraphs>237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DM Sans</vt:lpstr>
      <vt:lpstr>Arial</vt:lpstr>
      <vt:lpstr>Times New Roman</vt:lpstr>
      <vt:lpstr>Poppins Bold</vt:lpstr>
      <vt:lpstr>DM Sans Bold</vt:lpstr>
      <vt:lpstr>Calibri</vt:lpstr>
      <vt:lpstr>Aptos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 Data-Driven Anti-Fraud Governance: Anomaly Detection and Composite Risk Scoring for Port-Level Oversight in Digital Maritime Services</dc:title>
  <cp:lastModifiedBy>ikp9C50601@outlook.com</cp:lastModifiedBy>
  <cp:revision>4</cp:revision>
  <dcterms:created xsi:type="dcterms:W3CDTF">2006-08-16T00:00:00Z</dcterms:created>
  <dcterms:modified xsi:type="dcterms:W3CDTF">2026-09-01T16:48:15Z</dcterms:modified>
  <dc:identifier>DAHT9a2EHko</dc:identifier>
</cp:coreProperties>
</file>